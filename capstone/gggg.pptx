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312" r:id="rId2"/>
    <p:sldId id="341" r:id="rId3"/>
    <p:sldId id="305" r:id="rId4"/>
    <p:sldId id="338" r:id="rId5"/>
    <p:sldId id="335" r:id="rId6"/>
    <p:sldId id="346" r:id="rId7"/>
    <p:sldId id="343" r:id="rId8"/>
    <p:sldId id="288" r:id="rId9"/>
    <p:sldId id="290" r:id="rId10"/>
    <p:sldId id="340" r:id="rId11"/>
    <p:sldId id="336" r:id="rId12"/>
    <p:sldId id="345" r:id="rId13"/>
    <p:sldId id="337" r:id="rId14"/>
    <p:sldId id="32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i gandan" userId="eee2130552b35f13" providerId="LiveId" clId="{09452730-CAFF-402F-B52A-053E8F190EDC}"/>
    <pc:docChg chg="undo custSel addSld delSld modSld">
      <pc:chgData name="mani gandan" userId="eee2130552b35f13" providerId="LiveId" clId="{09452730-CAFF-402F-B52A-053E8F190EDC}" dt="2026-02-18T03:29:02.656" v="7" actId="47"/>
      <pc:docMkLst>
        <pc:docMk/>
      </pc:docMkLst>
      <pc:sldChg chg="add del">
        <pc:chgData name="mani gandan" userId="eee2130552b35f13" providerId="LiveId" clId="{09452730-CAFF-402F-B52A-053E8F190EDC}" dt="2026-02-18T03:29:02.656" v="7" actId="47"/>
        <pc:sldMkLst>
          <pc:docMk/>
          <pc:sldMk cId="0" sldId="288"/>
        </pc:sldMkLst>
      </pc:sldChg>
      <pc:sldChg chg="modSp mod">
        <pc:chgData name="mani gandan" userId="eee2130552b35f13" providerId="LiveId" clId="{09452730-CAFF-402F-B52A-053E8F190EDC}" dt="2026-02-18T03:19:23.633" v="5" actId="14100"/>
        <pc:sldMkLst>
          <pc:docMk/>
          <pc:sldMk cId="1925959529" sldId="345"/>
        </pc:sldMkLst>
        <pc:spChg chg="mod">
          <ac:chgData name="mani gandan" userId="eee2130552b35f13" providerId="LiveId" clId="{09452730-CAFF-402F-B52A-053E8F190EDC}" dt="2026-02-18T03:19:23.633" v="5" actId="14100"/>
          <ac:spMkLst>
            <pc:docMk/>
            <pc:sldMk cId="1925959529" sldId="345"/>
            <ac:spMk id="6" creationId="{8C39DC59-613A-7C2A-9ABC-14F6C9D7F07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1B19DE-F010-448A-BD29-0CC6EFBE1B0D}" type="datetimeFigureOut">
              <a:rPr lang="en-IN" smtClean="0"/>
              <a:t>18-02-2026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59A5DC-7A16-4CD7-A4C0-F884C22D9C90}" type="slidenum">
              <a:rPr lang="en-IN" smtClean="0"/>
              <a:t>‹#›</a:t>
            </a:fld>
            <a:endParaRPr lang="en-IN"/>
          </a:p>
        </p:txBody>
      </p:sp>
    </p:spTree>
    <p:extLst>
      <p:ext uri="{BB962C8B-B14F-4D97-AF65-F5344CB8AC3E}">
        <p14:creationId xmlns:p14="http://schemas.microsoft.com/office/powerpoint/2010/main" val="1469024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859A5DC-7A16-4CD7-A4C0-F884C22D9C90}" type="slidenum">
              <a:rPr lang="en-IN" smtClean="0"/>
              <a:t>3</a:t>
            </a:fld>
            <a:endParaRPr lang="en-IN"/>
          </a:p>
        </p:txBody>
      </p:sp>
    </p:spTree>
    <p:extLst>
      <p:ext uri="{BB962C8B-B14F-4D97-AF65-F5344CB8AC3E}">
        <p14:creationId xmlns:p14="http://schemas.microsoft.com/office/powerpoint/2010/main" val="17518519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A10D50B-76D3-4FD8-AABC-626A40B53236}"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253B43-DF85-4FB7-A030-8B801D6A839E}"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A10D50B-76D3-4FD8-AABC-626A40B53236}"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253B43-DF85-4FB7-A030-8B801D6A839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A10D50B-76D3-4FD8-AABC-626A40B53236}"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253B43-DF85-4FB7-A030-8B801D6A839E}"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A10D50B-76D3-4FD8-AABC-626A40B53236}" type="datetimeFigureOut">
              <a:rPr lang="en-US" smtClean="0"/>
              <a:pPr/>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253B43-DF85-4FB7-A030-8B801D6A839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A10D50B-76D3-4FD8-AABC-626A40B53236}" type="datetimeFigureOut">
              <a:rPr lang="en-US" smtClean="0"/>
              <a:pPr/>
              <a:t>2/18/2026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6253B43-DF85-4FB7-A030-8B801D6A839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A10D50B-76D3-4FD8-AABC-626A40B53236}" type="datetimeFigureOut">
              <a:rPr lang="en-US" smtClean="0"/>
              <a:pPr/>
              <a:t>2/18/2026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6253B43-DF85-4FB7-A030-8B801D6A839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10D50B-76D3-4FD8-AABC-626A40B53236}" type="datetimeFigureOut">
              <a:rPr lang="en-US" smtClean="0"/>
              <a:pPr/>
              <a:t>2/18/2026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6253B43-DF85-4FB7-A030-8B801D6A839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A10D50B-76D3-4FD8-AABC-626A40B53236}" type="datetimeFigureOut">
              <a:rPr lang="en-US" smtClean="0"/>
              <a:pPr/>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253B43-DF85-4FB7-A030-8B801D6A839E}"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A10D50B-76D3-4FD8-AABC-626A40B53236}" type="datetimeFigureOut">
              <a:rPr lang="en-US" smtClean="0"/>
              <a:pPr/>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253B43-DF85-4FB7-A030-8B801D6A839E}"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A10D50B-76D3-4FD8-AABC-626A40B53236}"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253B43-DF85-4FB7-A030-8B801D6A839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A10D50B-76D3-4FD8-AABC-626A40B53236}"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253B43-DF85-4FB7-A030-8B801D6A839E}"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10D50B-76D3-4FD8-AABC-626A40B53236}" type="datetimeFigureOut">
              <a:rPr lang="en-US" smtClean="0"/>
              <a:pPr/>
              <a:t>2/18/2026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253B43-DF85-4FB7-A030-8B801D6A839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631060623"/>
              </p:ext>
            </p:extLst>
          </p:nvPr>
        </p:nvGraphicFramePr>
        <p:xfrm>
          <a:off x="1022555" y="4493687"/>
          <a:ext cx="3195484" cy="1964956"/>
        </p:xfrm>
        <a:graphic>
          <a:graphicData uri="http://schemas.openxmlformats.org/drawingml/2006/table">
            <a:tbl>
              <a:tblPr firstRow="1" bandRow="1">
                <a:tableStyleId>{2D5ABB26-0587-4C30-8999-92F81FD0307C}</a:tableStyleId>
              </a:tblPr>
              <a:tblGrid>
                <a:gridCol w="3195484">
                  <a:extLst>
                    <a:ext uri="{9D8B030D-6E8A-4147-A177-3AD203B41FA5}">
                      <a16:colId xmlns:a16="http://schemas.microsoft.com/office/drawing/2014/main" val="20001"/>
                    </a:ext>
                  </a:extLst>
                </a:gridCol>
              </a:tblGrid>
              <a:tr h="520076">
                <a:tc>
                  <a:txBody>
                    <a:bodyPr/>
                    <a:lstStyle/>
                    <a:p>
                      <a:pPr>
                        <a:lnSpc>
                          <a:spcPct val="150000"/>
                        </a:lnSpc>
                      </a:pPr>
                      <a:r>
                        <a:rPr lang="en-US" sz="2000" b="1" dirty="0">
                          <a:latin typeface="Times New Roman" pitchFamily="18" charset="0"/>
                          <a:cs typeface="Times New Roman" pitchFamily="18" charset="0"/>
                        </a:rPr>
                        <a:t>GUIDE:</a:t>
                      </a:r>
                    </a:p>
                  </a:txBody>
                  <a:tcPr marL="121920" marR="12192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912967">
                <a:tc>
                  <a:txBody>
                    <a:bodyPr/>
                    <a:lstStyle/>
                    <a:p>
                      <a:pPr>
                        <a:lnSpc>
                          <a:spcPct val="150000"/>
                        </a:lnSpc>
                      </a:pPr>
                      <a:r>
                        <a:rPr lang="en-US" sz="2000" dirty="0">
                          <a:latin typeface="Times New Roman" pitchFamily="18" charset="0"/>
                          <a:cs typeface="Times New Roman" pitchFamily="18" charset="0"/>
                        </a:rPr>
                        <a:t>DR. S . </a:t>
                      </a:r>
                      <a:r>
                        <a:rPr lang="en-US" sz="2000" dirty="0" err="1">
                          <a:latin typeface="Times New Roman" pitchFamily="18" charset="0"/>
                          <a:cs typeface="Times New Roman" pitchFamily="18" charset="0"/>
                        </a:rPr>
                        <a:t>Senthilvadivu</a:t>
                      </a:r>
                      <a:endParaRPr lang="en-US" sz="2000" dirty="0">
                        <a:latin typeface="Times New Roman" pitchFamily="18" charset="0"/>
                        <a:cs typeface="Times New Roman" pitchFamily="18" charset="0"/>
                      </a:endParaRPr>
                    </a:p>
                    <a:p>
                      <a:pPr>
                        <a:lnSpc>
                          <a:spcPct val="150000"/>
                        </a:lnSpc>
                      </a:pPr>
                      <a:r>
                        <a:rPr lang="en-US" sz="2000" baseline="0" dirty="0">
                          <a:latin typeface="Times New Roman" pitchFamily="18" charset="0"/>
                          <a:cs typeface="Times New Roman" pitchFamily="18" charset="0"/>
                        </a:rPr>
                        <a:t>DR. T . Kumaragurubaran</a:t>
                      </a:r>
                      <a:endParaRPr lang="en-US" sz="2000" dirty="0">
                        <a:latin typeface="Times New Roman" pitchFamily="18" charset="0"/>
                        <a:cs typeface="Times New Roman" pitchFamily="18" charset="0"/>
                      </a:endParaRPr>
                    </a:p>
                  </a:txBody>
                  <a:tcPr marL="121920" marR="12192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474070">
                <a:tc>
                  <a:txBody>
                    <a:bodyPr/>
                    <a:lstStyle/>
                    <a:p>
                      <a:pPr>
                        <a:lnSpc>
                          <a:spcPct val="150000"/>
                        </a:lnSpc>
                      </a:pPr>
                      <a:r>
                        <a:rPr lang="en-US" sz="2000" dirty="0">
                          <a:latin typeface="Times New Roman" pitchFamily="18" charset="0"/>
                          <a:cs typeface="Times New Roman" pitchFamily="18" charset="0"/>
                        </a:rPr>
                        <a:t>PROFESSOR.</a:t>
                      </a:r>
                    </a:p>
                  </a:txBody>
                  <a:tcPr marL="121920" marR="12192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831011029"/>
              </p:ext>
            </p:extLst>
          </p:nvPr>
        </p:nvGraphicFramePr>
        <p:xfrm>
          <a:off x="8232876" y="4001483"/>
          <a:ext cx="3959124" cy="1985437"/>
        </p:xfrm>
        <a:graphic>
          <a:graphicData uri="http://schemas.openxmlformats.org/drawingml/2006/table">
            <a:tbl>
              <a:tblPr bandRow="1">
                <a:tableStyleId>{2D5ABB26-0587-4C30-8999-92F81FD0307C}</a:tableStyleId>
              </a:tblPr>
              <a:tblGrid>
                <a:gridCol w="3959124">
                  <a:extLst>
                    <a:ext uri="{9D8B030D-6E8A-4147-A177-3AD203B41FA5}">
                      <a16:colId xmlns:a16="http://schemas.microsoft.com/office/drawing/2014/main" val="20000"/>
                    </a:ext>
                  </a:extLst>
                </a:gridCol>
              </a:tblGrid>
              <a:tr h="295173">
                <a:tc>
                  <a:txBody>
                    <a:bodyPr/>
                    <a:lstStyle/>
                    <a:p>
                      <a:pPr>
                        <a:lnSpc>
                          <a:spcPct val="150000"/>
                        </a:lnSpc>
                      </a:pPr>
                      <a:endParaRPr lang="en-US" sz="2000" b="1" dirty="0">
                        <a:latin typeface="Times New Roman" pitchFamily="18" charset="0"/>
                        <a:cs typeface="Times New Roman" pitchFamily="18" charset="0"/>
                      </a:endParaRPr>
                    </a:p>
                  </a:txBody>
                  <a:tcPr marL="121920" marR="12192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497199">
                <a:tc>
                  <a:txBody>
                    <a:bodyPr/>
                    <a:lstStyle/>
                    <a:p>
                      <a:pPr>
                        <a:lnSpc>
                          <a:spcPct val="150000"/>
                        </a:lnSpc>
                      </a:pPr>
                      <a:r>
                        <a:rPr lang="en-US" sz="1600" b="1" dirty="0">
                          <a:latin typeface="Times New Roman" pitchFamily="18" charset="0"/>
                          <a:cs typeface="Times New Roman" pitchFamily="18" charset="0"/>
                        </a:rPr>
                        <a:t>PRESENTED BY:</a:t>
                      </a:r>
                    </a:p>
                  </a:txBody>
                  <a:tcPr marL="121920" marR="12192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497199">
                <a:tc>
                  <a:txBody>
                    <a:bodyPr/>
                    <a:lstStyle/>
                    <a:p>
                      <a:pPr>
                        <a:lnSpc>
                          <a:spcPct val="100000"/>
                        </a:lnSpc>
                      </a:pPr>
                      <a:r>
                        <a:rPr lang="en-US" sz="2000" baseline="0" dirty="0">
                          <a:latin typeface="Times New Roman" pitchFamily="18" charset="0"/>
                          <a:cs typeface="Times New Roman" pitchFamily="18" charset="0"/>
                        </a:rPr>
                        <a:t>  R .Jayanth(192424286)</a:t>
                      </a:r>
                      <a:endParaRPr lang="en-US" sz="2000" dirty="0">
                        <a:latin typeface="Times New Roman" pitchFamily="18" charset="0"/>
                        <a:cs typeface="Times New Roman" pitchFamily="18" charset="0"/>
                      </a:endParaRPr>
                    </a:p>
                  </a:txBody>
                  <a:tcPr marL="121920" marR="12192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29551667"/>
                  </a:ext>
                </a:extLst>
              </a:tr>
              <a:tr h="497199">
                <a:tc>
                  <a:txBody>
                    <a:bodyPr/>
                    <a:lstStyle/>
                    <a:p>
                      <a:r>
                        <a:rPr lang="en-US" sz="2000" dirty="0">
                          <a:latin typeface="Times New Roman" pitchFamily="18" charset="0"/>
                          <a:cs typeface="Times New Roman" pitchFamily="18" charset="0"/>
                        </a:rPr>
                        <a:t> S .Manigandan (192424057)</a:t>
                      </a:r>
                    </a:p>
                  </a:txBody>
                  <a:tcPr marL="121920" marR="12192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sp>
        <p:nvSpPr>
          <p:cNvPr id="9" name="Title 1"/>
          <p:cNvSpPr txBox="1">
            <a:spLocks/>
          </p:cNvSpPr>
          <p:nvPr/>
        </p:nvSpPr>
        <p:spPr>
          <a:xfrm>
            <a:off x="1591698" y="1904018"/>
            <a:ext cx="9245600" cy="1295400"/>
          </a:xfrm>
          <a:prstGeom prst="rect">
            <a:avLst/>
          </a:prstGeom>
        </p:spPr>
        <p:txBody>
          <a:bodyPr vert="horz" lIns="91440" tIns="45720" rIns="91440" bIns="45720" rtlCol="0" anchor="ctr">
            <a:normAutofit/>
          </a:bodyPr>
          <a:lstStyle/>
          <a:p>
            <a:pPr lvl="0" algn="ctr">
              <a:spcBef>
                <a:spcPct val="0"/>
              </a:spcBef>
            </a:pPr>
            <a:endParaRPr kumimoji="0" lang="en-US" sz="2000" b="1" i="0" u="none" strike="noStrike" kern="1200" cap="none" spc="0" normalizeH="0" baseline="0" noProof="0">
              <a:ln>
                <a:noFill/>
              </a:ln>
              <a:solidFill>
                <a:schemeClr val="tx1"/>
              </a:solidFill>
              <a:effectLst/>
              <a:uLnTx/>
              <a:uFillTx/>
              <a:latin typeface="Times New Roman" pitchFamily="18" charset="0"/>
              <a:ea typeface="+mj-ea"/>
              <a:cs typeface="Times New Roman" pitchFamily="18" charset="0"/>
            </a:endParaRPr>
          </a:p>
        </p:txBody>
      </p:sp>
      <p:sp>
        <p:nvSpPr>
          <p:cNvPr id="10" name="Title 1"/>
          <p:cNvSpPr txBox="1">
            <a:spLocks/>
          </p:cNvSpPr>
          <p:nvPr/>
        </p:nvSpPr>
        <p:spPr>
          <a:xfrm>
            <a:off x="1744098" y="2082205"/>
            <a:ext cx="9245600" cy="609600"/>
          </a:xfrm>
          <a:prstGeom prst="rect">
            <a:avLst/>
          </a:prstGeom>
        </p:spPr>
        <p:txBody>
          <a:bodyPr vert="horz" lIns="91440" tIns="45720" rIns="91440" bIns="45720" rtlCol="0" anchor="ctr">
            <a:normAutofit/>
          </a:bodyPr>
          <a:lstStyle/>
          <a:p>
            <a:pPr lvl="0" algn="ctr">
              <a:spcBef>
                <a:spcPct val="0"/>
              </a:spcBef>
            </a:pPr>
            <a:endParaRPr kumimoji="0" lang="en-US" sz="20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11" name="Rectangle 10"/>
          <p:cNvSpPr/>
          <p:nvPr/>
        </p:nvSpPr>
        <p:spPr>
          <a:xfrm>
            <a:off x="1524975" y="2082205"/>
            <a:ext cx="9026435" cy="2246769"/>
          </a:xfrm>
          <a:prstGeom prst="rect">
            <a:avLst/>
          </a:prstGeom>
        </p:spPr>
        <p:txBody>
          <a:bodyPr wrap="square">
            <a:spAutoFit/>
          </a:bodyPr>
          <a:lstStyle/>
          <a:p>
            <a:pPr lvl="0" algn="ctr"/>
            <a:r>
              <a:rPr lang="en-US" sz="2800" b="1" dirty="0">
                <a:latin typeface="Times New Roman" panose="02020603050405020304" pitchFamily="18" charset="0"/>
                <a:cs typeface="Times New Roman" panose="02020603050405020304" pitchFamily="18" charset="0"/>
              </a:rPr>
              <a:t>Automatic Fruit Ripeness Detection and Quality Grading Using Image Analysis</a:t>
            </a:r>
          </a:p>
          <a:p>
            <a:pPr lvl="0" algn="ctr"/>
            <a:endParaRPr lang="en-IN" sz="28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a:p>
            <a:pPr marL="0" marR="0" lvl="0" indent="0" algn="ctr" rtl="0">
              <a:spcBef>
                <a:spcPts val="0"/>
              </a:spcBef>
              <a:spcAft>
                <a:spcPts val="0"/>
              </a:spcAft>
              <a:buNone/>
            </a:pPr>
            <a:r>
              <a:rPr lang="en-IN" sz="2800" b="1" dirty="0">
                <a:solidFill>
                  <a:schemeClr val="dk1"/>
                </a:solidFill>
                <a:latin typeface="Times New Roman" panose="02020603050405020304" pitchFamily="18" charset="0"/>
                <a:ea typeface="Calibri"/>
                <a:cs typeface="Times New Roman" panose="02020603050405020304" pitchFamily="18" charset="0"/>
                <a:sym typeface="Calibri"/>
              </a:rPr>
              <a:t>DSA0216-Computer Vision With Open CV For Modern AI</a:t>
            </a:r>
            <a:endParaRPr lang="en-IN" sz="16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p:txBody>
      </p:sp>
      <p:pic>
        <p:nvPicPr>
          <p:cNvPr id="3" name="Picture 2"/>
          <p:cNvPicPr>
            <a:picLocks noChangeAspect="1"/>
          </p:cNvPicPr>
          <p:nvPr/>
        </p:nvPicPr>
        <p:blipFill>
          <a:blip r:embed="rId2"/>
          <a:stretch>
            <a:fillRect/>
          </a:stretch>
        </p:blipFill>
        <p:spPr>
          <a:xfrm>
            <a:off x="178676" y="90507"/>
            <a:ext cx="11719034" cy="167205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123878948;p1">
            <a:extLst>
              <a:ext uri="{FF2B5EF4-FFF2-40B4-BE49-F238E27FC236}">
                <a16:creationId xmlns:a16="http://schemas.microsoft.com/office/drawing/2014/main" id="{FB826DE6-08FD-0F39-3665-FD30C3D27D64}"/>
              </a:ext>
            </a:extLst>
          </p:cNvPr>
          <p:cNvPicPr preferRelativeResize="0"/>
          <p:nvPr/>
        </p:nvPicPr>
        <p:blipFill rotWithShape="1">
          <a:blip r:embed="rId2">
            <a:alphaModFix/>
          </a:blip>
          <a:srcRect/>
          <a:stretch/>
        </p:blipFill>
        <p:spPr>
          <a:xfrm>
            <a:off x="357352" y="191626"/>
            <a:ext cx="1135117" cy="1342883"/>
          </a:xfrm>
          <a:prstGeom prst="rect">
            <a:avLst/>
          </a:prstGeom>
          <a:noFill/>
          <a:ln>
            <a:noFill/>
          </a:ln>
        </p:spPr>
      </p:pic>
      <p:pic>
        <p:nvPicPr>
          <p:cNvPr id="3" name="Google Shape;2123878949;p1">
            <a:extLst>
              <a:ext uri="{FF2B5EF4-FFF2-40B4-BE49-F238E27FC236}">
                <a16:creationId xmlns:a16="http://schemas.microsoft.com/office/drawing/2014/main" id="{C5DE5A0B-476D-8BA4-3942-774F7813FC03}"/>
              </a:ext>
            </a:extLst>
          </p:cNvPr>
          <p:cNvPicPr preferRelativeResize="0"/>
          <p:nvPr/>
        </p:nvPicPr>
        <p:blipFill rotWithShape="1">
          <a:blip r:embed="rId3">
            <a:alphaModFix/>
          </a:blip>
          <a:srcRect/>
          <a:stretch/>
        </p:blipFill>
        <p:spPr>
          <a:xfrm>
            <a:off x="10514231" y="191626"/>
            <a:ext cx="1520114" cy="1342883"/>
          </a:xfrm>
          <a:prstGeom prst="rect">
            <a:avLst/>
          </a:prstGeom>
          <a:noFill/>
          <a:ln>
            <a:noFill/>
          </a:ln>
        </p:spPr>
      </p:pic>
      <p:sp>
        <p:nvSpPr>
          <p:cNvPr id="4" name="Rectangle 3">
            <a:extLst>
              <a:ext uri="{FF2B5EF4-FFF2-40B4-BE49-F238E27FC236}">
                <a16:creationId xmlns:a16="http://schemas.microsoft.com/office/drawing/2014/main" id="{0403A1C9-AC90-C143-B25B-F59F17879572}"/>
              </a:ext>
            </a:extLst>
          </p:cNvPr>
          <p:cNvSpPr/>
          <p:nvPr/>
        </p:nvSpPr>
        <p:spPr>
          <a:xfrm>
            <a:off x="3028335" y="191626"/>
            <a:ext cx="6774426" cy="1263548"/>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3600" b="1" dirty="0">
                <a:latin typeface="Times New Roman" panose="02020603050405020304" pitchFamily="18" charset="0"/>
                <a:cs typeface="Times New Roman" panose="02020603050405020304" pitchFamily="18" charset="0"/>
              </a:rPr>
              <a:t>ABSTRACT</a:t>
            </a:r>
          </a:p>
        </p:txBody>
      </p:sp>
      <p:sp>
        <p:nvSpPr>
          <p:cNvPr id="6" name="TextBox 5">
            <a:extLst>
              <a:ext uri="{FF2B5EF4-FFF2-40B4-BE49-F238E27FC236}">
                <a16:creationId xmlns:a16="http://schemas.microsoft.com/office/drawing/2014/main" id="{1ACE2DDF-3C00-1510-BBF3-A60BCBF316EE}"/>
              </a:ext>
            </a:extLst>
          </p:cNvPr>
          <p:cNvSpPr txBox="1"/>
          <p:nvPr/>
        </p:nvSpPr>
        <p:spPr>
          <a:xfrm>
            <a:off x="1492469" y="1534509"/>
            <a:ext cx="9385081" cy="4659609"/>
          </a:xfrm>
          <a:prstGeom prst="rect">
            <a:avLst/>
          </a:prstGeom>
          <a:noFill/>
        </p:spPr>
        <p:txBody>
          <a:bodyPr wrap="square">
            <a:spAutoFit/>
          </a:bodyPr>
          <a:lstStyle/>
          <a:p>
            <a:pPr algn="just">
              <a:lnSpc>
                <a:spcPct val="150000"/>
              </a:lnSpc>
              <a:spcAft>
                <a:spcPts val="300"/>
              </a:spcAft>
            </a:pPr>
            <a:r>
              <a:rPr lang="en-US" sz="2000" dirty="0">
                <a:latin typeface="Times New Roman" panose="02020603050405020304" pitchFamily="18" charset="0"/>
                <a:cs typeface="Times New Roman" panose="02020603050405020304" pitchFamily="18" charset="0"/>
              </a:rPr>
              <a:t>Automatic Fruit Ripeness Detection and Quality Grading Using Image Analysis is a smart agricultural system designed to automatically identify the ripeness level and quality of fruits using computer vision techniques. The system captures fruit images through a camera and processes them using image preprocessing methods such as resizing, noise removal, and color correction. Important features like color, texture, shape, and size are extracted to analyze the fruit condition accurately. Machine learning or deep learning algorithms are then applied to classify fruits into different ripeness stages such as unripe, semi-ripe, and fully ripe. The system can also detect defects, bruises, and surface damage for quality grading. This automated approach reduces manual effort, minimizes human error, and ensures consistent grading standards.</a:t>
            </a:r>
            <a:endParaRPr lang="en-US" sz="2000" b="0" i="0" dirty="0">
              <a:solidFill>
                <a:srgbClr val="0D0D0D"/>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9998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0525" y="705626"/>
            <a:ext cx="9683553" cy="979714"/>
          </a:xfrm>
        </p:spPr>
        <p:txBody>
          <a:bodyPr>
            <a:noAutofit/>
          </a:bodyPr>
          <a:lstStyle/>
          <a:p>
            <a:pPr algn="ctr"/>
            <a:r>
              <a:rPr lang="en-US" sz="3600" b="1" dirty="0">
                <a:latin typeface="Times New Roman" panose="02020603050405020304" pitchFamily="18" charset="0"/>
                <a:cs typeface="Times New Roman" panose="02020603050405020304" pitchFamily="18" charset="0"/>
              </a:rPr>
              <a:t>INTRODUCTION</a:t>
            </a:r>
            <a:br>
              <a:rPr lang="en-US" sz="3600" dirty="0">
                <a:latin typeface="Times New Roman" panose="02020603050405020304" pitchFamily="18" charset="0"/>
                <a:cs typeface="Times New Roman" panose="02020603050405020304" pitchFamily="18" charset="0"/>
              </a:rPr>
            </a:br>
            <a:endParaRPr lang="en-US" sz="3600" dirty="0">
              <a:latin typeface="Times New Roman" panose="02020603050405020304" pitchFamily="18" charset="0"/>
              <a:cs typeface="Times New Roman" panose="02020603050405020304" pitchFamily="18" charset="0"/>
            </a:endParaRPr>
          </a:p>
        </p:txBody>
      </p:sp>
      <p:pic>
        <p:nvPicPr>
          <p:cNvPr id="4" name="Google Shape;2123878948;p1">
            <a:extLst>
              <a:ext uri="{FF2B5EF4-FFF2-40B4-BE49-F238E27FC236}">
                <a16:creationId xmlns:a16="http://schemas.microsoft.com/office/drawing/2014/main" id="{AC59E64E-192D-46CA-ECC3-D19266DB90A1}"/>
              </a:ext>
            </a:extLst>
          </p:cNvPr>
          <p:cNvPicPr preferRelativeResize="0"/>
          <p:nvPr/>
        </p:nvPicPr>
        <p:blipFill rotWithShape="1">
          <a:blip r:embed="rId3">
            <a:alphaModFix/>
          </a:blip>
          <a:srcRect/>
          <a:stretch/>
        </p:blipFill>
        <p:spPr>
          <a:xfrm>
            <a:off x="357352" y="191626"/>
            <a:ext cx="1135117" cy="1342883"/>
          </a:xfrm>
          <a:prstGeom prst="rect">
            <a:avLst/>
          </a:prstGeom>
          <a:noFill/>
          <a:ln>
            <a:noFill/>
          </a:ln>
        </p:spPr>
      </p:pic>
      <p:pic>
        <p:nvPicPr>
          <p:cNvPr id="5" name="Google Shape;2123878949;p1">
            <a:extLst>
              <a:ext uri="{FF2B5EF4-FFF2-40B4-BE49-F238E27FC236}">
                <a16:creationId xmlns:a16="http://schemas.microsoft.com/office/drawing/2014/main" id="{7D1954A0-E5FE-5F0A-3041-F35A6394DB55}"/>
              </a:ext>
            </a:extLst>
          </p:cNvPr>
          <p:cNvPicPr preferRelativeResize="0"/>
          <p:nvPr/>
        </p:nvPicPr>
        <p:blipFill rotWithShape="1">
          <a:blip r:embed="rId4">
            <a:alphaModFix/>
          </a:blip>
          <a:srcRect/>
          <a:stretch/>
        </p:blipFill>
        <p:spPr>
          <a:xfrm>
            <a:off x="10514231" y="191626"/>
            <a:ext cx="1520114" cy="1342883"/>
          </a:xfrm>
          <a:prstGeom prst="rect">
            <a:avLst/>
          </a:prstGeom>
          <a:noFill/>
          <a:ln>
            <a:noFill/>
          </a:ln>
        </p:spPr>
      </p:pic>
      <p:sp>
        <p:nvSpPr>
          <p:cNvPr id="3" name="Rectangle 1">
            <a:extLst>
              <a:ext uri="{FF2B5EF4-FFF2-40B4-BE49-F238E27FC236}">
                <a16:creationId xmlns:a16="http://schemas.microsoft.com/office/drawing/2014/main" id="{DB92E0D1-A1E6-C5B1-38D9-46FFE401555C}"/>
              </a:ext>
            </a:extLst>
          </p:cNvPr>
          <p:cNvSpPr>
            <a:spLocks noGrp="1" noChangeArrowheads="1"/>
          </p:cNvSpPr>
          <p:nvPr>
            <p:ph idx="1"/>
          </p:nvPr>
        </p:nvSpPr>
        <p:spPr bwMode="auto">
          <a:xfrm>
            <a:off x="1080525" y="1809313"/>
            <a:ext cx="9292200" cy="4191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Fruit ripeness and quality assessment are important in agriculture and the food industry.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lvl="0" algn="just"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Traditional grading methods are done manually, which can be time-consuming and inconsistent.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lgn="just"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Human inspection may lead to errors due to fatigue and subjective judgment.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lgn="just"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Image processing and computer vision provide an automated solution for fruit analysis.</a:t>
            </a:r>
          </a:p>
          <a:p>
            <a:pPr lvl="0" algn="just"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Machine learning algorithms help classify fruits into different ripeness levels accurately.</a:t>
            </a:r>
          </a:p>
          <a:p>
            <a:pPr lvl="0" algn="just"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technology reduces post-harvest losses and improves supply chain efficiency</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ADBAC-1684-C61B-FE5F-95431D754770}"/>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OBJECTIVES</a:t>
            </a:r>
          </a:p>
        </p:txBody>
      </p:sp>
      <p:sp>
        <p:nvSpPr>
          <p:cNvPr id="4" name="Rectangle 1">
            <a:extLst>
              <a:ext uri="{FF2B5EF4-FFF2-40B4-BE49-F238E27FC236}">
                <a16:creationId xmlns:a16="http://schemas.microsoft.com/office/drawing/2014/main" id="{4B5D516E-1918-19DC-1BA4-13C056172EDC}"/>
              </a:ext>
            </a:extLst>
          </p:cNvPr>
          <p:cNvSpPr>
            <a:spLocks noGrp="1" noChangeArrowheads="1"/>
          </p:cNvSpPr>
          <p:nvPr>
            <p:ph idx="1"/>
          </p:nvPr>
        </p:nvSpPr>
        <p:spPr bwMode="auto">
          <a:xfrm>
            <a:off x="1196533" y="1864187"/>
            <a:ext cx="9798934" cy="4191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 an automated system</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detect the ripeness level of fruits using image analysis techniques.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Classify fruits into different quality grades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based on color, texture, and size features extracted from images.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 human error and labor costs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fruit sorting and quality assessment processes.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 real-time detection and grading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facilitate faster processing in agricultural and supply chain systems.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 post-harvest management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by providing accurate and consistent ripeness and quality information for fruits.</a:t>
            </a:r>
          </a:p>
        </p:txBody>
      </p:sp>
      <p:pic>
        <p:nvPicPr>
          <p:cNvPr id="5" name="Google Shape;2123878948;p1">
            <a:extLst>
              <a:ext uri="{FF2B5EF4-FFF2-40B4-BE49-F238E27FC236}">
                <a16:creationId xmlns:a16="http://schemas.microsoft.com/office/drawing/2014/main" id="{27FCF5A6-4DDA-4998-8C1F-9772E6810893}"/>
              </a:ext>
            </a:extLst>
          </p:cNvPr>
          <p:cNvPicPr preferRelativeResize="0"/>
          <p:nvPr/>
        </p:nvPicPr>
        <p:blipFill rotWithShape="1">
          <a:blip r:embed="rId2">
            <a:alphaModFix/>
          </a:blip>
          <a:srcRect/>
          <a:stretch/>
        </p:blipFill>
        <p:spPr>
          <a:xfrm>
            <a:off x="357352" y="191626"/>
            <a:ext cx="1135117" cy="1342883"/>
          </a:xfrm>
          <a:prstGeom prst="rect">
            <a:avLst/>
          </a:prstGeom>
          <a:noFill/>
          <a:ln>
            <a:noFill/>
          </a:ln>
        </p:spPr>
      </p:pic>
      <p:pic>
        <p:nvPicPr>
          <p:cNvPr id="6" name="Google Shape;2123878949;p1">
            <a:extLst>
              <a:ext uri="{FF2B5EF4-FFF2-40B4-BE49-F238E27FC236}">
                <a16:creationId xmlns:a16="http://schemas.microsoft.com/office/drawing/2014/main" id="{6B0B895A-92A2-425A-3A59-5B9CB876B2CF}"/>
              </a:ext>
            </a:extLst>
          </p:cNvPr>
          <p:cNvPicPr preferRelativeResize="0"/>
          <p:nvPr/>
        </p:nvPicPr>
        <p:blipFill rotWithShape="1">
          <a:blip r:embed="rId3">
            <a:alphaModFix/>
          </a:blip>
          <a:srcRect/>
          <a:stretch/>
        </p:blipFill>
        <p:spPr>
          <a:xfrm>
            <a:off x="10514231" y="191626"/>
            <a:ext cx="1520114" cy="1342883"/>
          </a:xfrm>
          <a:prstGeom prst="rect">
            <a:avLst/>
          </a:prstGeom>
          <a:noFill/>
          <a:ln>
            <a:noFill/>
          </a:ln>
        </p:spPr>
      </p:pic>
    </p:spTree>
    <p:extLst>
      <p:ext uri="{BB962C8B-B14F-4D97-AF65-F5344CB8AC3E}">
        <p14:creationId xmlns:p14="http://schemas.microsoft.com/office/powerpoint/2010/main" val="30002348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2C060-C780-49AF-D850-BA1C84874E70}"/>
              </a:ext>
            </a:extLst>
          </p:cNvPr>
          <p:cNvSpPr>
            <a:spLocks noGrp="1"/>
          </p:cNvSpPr>
          <p:nvPr>
            <p:ph type="title"/>
          </p:nvPr>
        </p:nvSpPr>
        <p:spPr/>
        <p:txBody>
          <a:bodyPr/>
          <a:lstStyle/>
          <a:p>
            <a:pPr algn="just"/>
            <a:r>
              <a:rPr lang="en-US" dirty="0"/>
              <a:t>                    </a:t>
            </a:r>
            <a:r>
              <a:rPr lang="en-US" sz="3600" b="1" dirty="0">
                <a:latin typeface="Times New Roman" panose="02020603050405020304" pitchFamily="18" charset="0"/>
                <a:cs typeface="Times New Roman" panose="02020603050405020304" pitchFamily="18" charset="0"/>
              </a:rPr>
              <a:t>METHODOLOGY</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AEAA95D-9E0F-A52C-9931-2E912B045103}"/>
              </a:ext>
            </a:extLst>
          </p:cNvPr>
          <p:cNvSpPr>
            <a:spLocks noGrp="1"/>
          </p:cNvSpPr>
          <p:nvPr>
            <p:ph idx="1"/>
          </p:nvPr>
        </p:nvSpPr>
        <p:spPr>
          <a:xfrm>
            <a:off x="238126" y="1428750"/>
            <a:ext cx="7334249" cy="5429250"/>
          </a:xfrm>
        </p:spPr>
        <p:txBody>
          <a:bodyPr>
            <a:noAutofit/>
          </a:bodyPr>
          <a:lstStyle/>
          <a:p>
            <a:pPr algn="just">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Image Acquisition:</a:t>
            </a:r>
            <a:r>
              <a:rPr lang="en-US" sz="2000" dirty="0">
                <a:latin typeface="Times New Roman" panose="02020603050405020304" pitchFamily="18" charset="0"/>
                <a:cs typeface="Times New Roman" panose="02020603050405020304" pitchFamily="18" charset="0"/>
              </a:rPr>
              <a:t> Capture fruit images using a digital camera or mobile camera under controlled lighting conditions.</a:t>
            </a:r>
          </a:p>
          <a:p>
            <a:pPr algn="just">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Image Preprocessing:</a:t>
            </a:r>
            <a:r>
              <a:rPr lang="en-US" sz="2000" dirty="0">
                <a:latin typeface="Times New Roman" panose="02020603050405020304" pitchFamily="18" charset="0"/>
                <a:cs typeface="Times New Roman" panose="02020603050405020304" pitchFamily="18" charset="0"/>
              </a:rPr>
              <a:t> Resize images, remove noise, adjust brightness, and enhance contrast for better analysis</a:t>
            </a:r>
          </a:p>
          <a:p>
            <a:pPr algn="just">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Feature Extraction:</a:t>
            </a:r>
            <a:r>
              <a:rPr lang="en-US" sz="2000" dirty="0">
                <a:latin typeface="Times New Roman" panose="02020603050405020304" pitchFamily="18" charset="0"/>
                <a:cs typeface="Times New Roman" panose="02020603050405020304" pitchFamily="18" charset="0"/>
              </a:rPr>
              <a:t> Extract important features such as color (RGB/HSV values), texture (GLCM), shape, and size.</a:t>
            </a:r>
          </a:p>
          <a:p>
            <a:pPr algn="just">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Performance Evaluation:</a:t>
            </a:r>
            <a:r>
              <a:rPr lang="en-US" sz="2000" dirty="0">
                <a:latin typeface="Times New Roman" panose="02020603050405020304" pitchFamily="18" charset="0"/>
                <a:cs typeface="Times New Roman" panose="02020603050405020304" pitchFamily="18" charset="0"/>
              </a:rPr>
              <a:t> Measure accuracy, precision, recall, and F1-score to evaluate model performance.</a:t>
            </a:r>
          </a:p>
          <a:p>
            <a:pPr algn="just">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Result Display:</a:t>
            </a:r>
            <a:r>
              <a:rPr lang="en-US" sz="2000" dirty="0">
                <a:latin typeface="Times New Roman" panose="02020603050405020304" pitchFamily="18" charset="0"/>
                <a:cs typeface="Times New Roman" panose="02020603050405020304" pitchFamily="18" charset="0"/>
              </a:rPr>
              <a:t> Display the predicted ripeness level and quality grade in real time.</a:t>
            </a:r>
          </a:p>
          <a:p>
            <a:pPr algn="just">
              <a:lnSpc>
                <a:spcPct val="150000"/>
              </a:lnSpc>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p:txBody>
      </p:sp>
      <p:pic>
        <p:nvPicPr>
          <p:cNvPr id="4" name="Google Shape;2123878948;p1">
            <a:extLst>
              <a:ext uri="{FF2B5EF4-FFF2-40B4-BE49-F238E27FC236}">
                <a16:creationId xmlns:a16="http://schemas.microsoft.com/office/drawing/2014/main" id="{BB96AF3C-D607-1AB5-2696-3DB9EECA6593}"/>
              </a:ext>
            </a:extLst>
          </p:cNvPr>
          <p:cNvPicPr preferRelativeResize="0"/>
          <p:nvPr/>
        </p:nvPicPr>
        <p:blipFill rotWithShape="1">
          <a:blip r:embed="rId2">
            <a:alphaModFix/>
          </a:blip>
          <a:srcRect/>
          <a:stretch/>
        </p:blipFill>
        <p:spPr>
          <a:xfrm>
            <a:off x="357352" y="191626"/>
            <a:ext cx="1135117" cy="1342883"/>
          </a:xfrm>
          <a:prstGeom prst="rect">
            <a:avLst/>
          </a:prstGeom>
          <a:noFill/>
          <a:ln>
            <a:noFill/>
          </a:ln>
        </p:spPr>
      </p:pic>
      <p:pic>
        <p:nvPicPr>
          <p:cNvPr id="5" name="Google Shape;2123878949;p1">
            <a:extLst>
              <a:ext uri="{FF2B5EF4-FFF2-40B4-BE49-F238E27FC236}">
                <a16:creationId xmlns:a16="http://schemas.microsoft.com/office/drawing/2014/main" id="{42DEF4A8-DBFC-9522-A762-79C12E2FF96E}"/>
              </a:ext>
            </a:extLst>
          </p:cNvPr>
          <p:cNvPicPr preferRelativeResize="0"/>
          <p:nvPr/>
        </p:nvPicPr>
        <p:blipFill rotWithShape="1">
          <a:blip r:embed="rId3">
            <a:alphaModFix/>
          </a:blip>
          <a:srcRect/>
          <a:stretch/>
        </p:blipFill>
        <p:spPr>
          <a:xfrm>
            <a:off x="10514231" y="191626"/>
            <a:ext cx="1520114" cy="1342883"/>
          </a:xfrm>
          <a:prstGeom prst="rect">
            <a:avLst/>
          </a:prstGeom>
          <a:noFill/>
          <a:ln>
            <a:noFill/>
          </a:ln>
        </p:spPr>
      </p:pic>
      <p:sp>
        <p:nvSpPr>
          <p:cNvPr id="6" name="AutoShape 2" descr="https://chatgpt.com/backend-api/estuary/content?id=file_00000000bd3c7207a50a84b1840bd96e&amp;ts=490135&amp;p=fs&amp;cid=1&amp;sig=5d417eaa75ca8a201fe0cfe8acfd08b08ef6075be4bc8500d7876cb3620f5da3&amp;v=0"/>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9" name="Picture 8">
            <a:extLst>
              <a:ext uri="{FF2B5EF4-FFF2-40B4-BE49-F238E27FC236}">
                <a16:creationId xmlns:a16="http://schemas.microsoft.com/office/drawing/2014/main" id="{5B0F3F59-E2D0-EF7F-7AC0-6597809981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49497" y="1721976"/>
            <a:ext cx="4384847" cy="4770899"/>
          </a:xfrm>
          <a:prstGeom prst="rect">
            <a:avLst/>
          </a:prstGeom>
        </p:spPr>
      </p:pic>
    </p:spTree>
    <p:extLst>
      <p:ext uri="{BB962C8B-B14F-4D97-AF65-F5344CB8AC3E}">
        <p14:creationId xmlns:p14="http://schemas.microsoft.com/office/powerpoint/2010/main" val="24450437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E8323-4987-8448-151A-04465EE3C1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2BF2B2-B786-010E-D90A-883DFE639940}"/>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SYSTEM ARCHITECTURE</a:t>
            </a:r>
          </a:p>
        </p:txBody>
      </p:sp>
      <p:pic>
        <p:nvPicPr>
          <p:cNvPr id="5" name="Google Shape;2123878948;p1">
            <a:extLst>
              <a:ext uri="{FF2B5EF4-FFF2-40B4-BE49-F238E27FC236}">
                <a16:creationId xmlns:a16="http://schemas.microsoft.com/office/drawing/2014/main" id="{FFCB1924-894F-BAE5-E06C-68208F5D3368}"/>
              </a:ext>
            </a:extLst>
          </p:cNvPr>
          <p:cNvPicPr preferRelativeResize="0"/>
          <p:nvPr/>
        </p:nvPicPr>
        <p:blipFill rotWithShape="1">
          <a:blip r:embed="rId2">
            <a:alphaModFix/>
          </a:blip>
          <a:srcRect/>
          <a:stretch/>
        </p:blipFill>
        <p:spPr>
          <a:xfrm>
            <a:off x="357352" y="191626"/>
            <a:ext cx="1135117" cy="1342883"/>
          </a:xfrm>
          <a:prstGeom prst="rect">
            <a:avLst/>
          </a:prstGeom>
          <a:noFill/>
          <a:ln>
            <a:noFill/>
          </a:ln>
        </p:spPr>
      </p:pic>
      <p:pic>
        <p:nvPicPr>
          <p:cNvPr id="6" name="Google Shape;2123878949;p1">
            <a:extLst>
              <a:ext uri="{FF2B5EF4-FFF2-40B4-BE49-F238E27FC236}">
                <a16:creationId xmlns:a16="http://schemas.microsoft.com/office/drawing/2014/main" id="{DD4E5A7D-32BE-6D12-7E97-795DCDFA607F}"/>
              </a:ext>
            </a:extLst>
          </p:cNvPr>
          <p:cNvPicPr preferRelativeResize="0"/>
          <p:nvPr/>
        </p:nvPicPr>
        <p:blipFill rotWithShape="1">
          <a:blip r:embed="rId3">
            <a:alphaModFix/>
          </a:blip>
          <a:srcRect/>
          <a:stretch/>
        </p:blipFill>
        <p:spPr>
          <a:xfrm>
            <a:off x="10514231" y="191626"/>
            <a:ext cx="1520114" cy="1342883"/>
          </a:xfrm>
          <a:prstGeom prst="rect">
            <a:avLst/>
          </a:prstGeom>
          <a:noFill/>
          <a:ln>
            <a:noFill/>
          </a:ln>
        </p:spPr>
      </p:pic>
      <p:pic>
        <p:nvPicPr>
          <p:cNvPr id="7" name="Picture 6">
            <a:extLst>
              <a:ext uri="{FF2B5EF4-FFF2-40B4-BE49-F238E27FC236}">
                <a16:creationId xmlns:a16="http://schemas.microsoft.com/office/drawing/2014/main" id="{BBA88140-32D3-BF91-A110-A35392E553E4}"/>
              </a:ext>
            </a:extLst>
          </p:cNvPr>
          <p:cNvPicPr>
            <a:picLocks noChangeAspect="1"/>
          </p:cNvPicPr>
          <p:nvPr/>
        </p:nvPicPr>
        <p:blipFill>
          <a:blip r:embed="rId4"/>
          <a:stretch>
            <a:fillRect/>
          </a:stretch>
        </p:blipFill>
        <p:spPr>
          <a:xfrm>
            <a:off x="2724150" y="1534509"/>
            <a:ext cx="6653211" cy="4838700"/>
          </a:xfrm>
          <a:prstGeom prst="rect">
            <a:avLst/>
          </a:prstGeom>
        </p:spPr>
      </p:pic>
    </p:spTree>
    <p:extLst>
      <p:ext uri="{BB962C8B-B14F-4D97-AF65-F5344CB8AC3E}">
        <p14:creationId xmlns:p14="http://schemas.microsoft.com/office/powerpoint/2010/main" val="8499451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B5CFB-DE28-10FA-DCEC-14776C6B16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EB2FD9-5E04-B89C-CD67-5CD2B7D31531}"/>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LITERATURE REVIEW</a:t>
            </a:r>
          </a:p>
        </p:txBody>
      </p:sp>
      <p:graphicFrame>
        <p:nvGraphicFramePr>
          <p:cNvPr id="4" name="Content Placeholder 3">
            <a:extLst>
              <a:ext uri="{FF2B5EF4-FFF2-40B4-BE49-F238E27FC236}">
                <a16:creationId xmlns:a16="http://schemas.microsoft.com/office/drawing/2014/main" id="{31CE8DA1-240E-340F-3282-65B6EB1D1FFC}"/>
              </a:ext>
            </a:extLst>
          </p:cNvPr>
          <p:cNvGraphicFramePr>
            <a:graphicFrameLocks noGrp="1"/>
          </p:cNvGraphicFramePr>
          <p:nvPr>
            <p:ph idx="1"/>
          </p:nvPr>
        </p:nvGraphicFramePr>
        <p:xfrm>
          <a:off x="879676" y="1692239"/>
          <a:ext cx="10741309" cy="4351338"/>
        </p:xfrm>
        <a:graphic>
          <a:graphicData uri="http://schemas.openxmlformats.org/drawingml/2006/table">
            <a:tbl>
              <a:tblPr/>
              <a:tblGrid>
                <a:gridCol w="1755654">
                  <a:extLst>
                    <a:ext uri="{9D8B030D-6E8A-4147-A177-3AD203B41FA5}">
                      <a16:colId xmlns:a16="http://schemas.microsoft.com/office/drawing/2014/main" val="1514366298"/>
                    </a:ext>
                  </a:extLst>
                </a:gridCol>
                <a:gridCol w="1797131">
                  <a:extLst>
                    <a:ext uri="{9D8B030D-6E8A-4147-A177-3AD203B41FA5}">
                      <a16:colId xmlns:a16="http://schemas.microsoft.com/office/drawing/2014/main" val="930896064"/>
                    </a:ext>
                  </a:extLst>
                </a:gridCol>
                <a:gridCol w="1797131">
                  <a:extLst>
                    <a:ext uri="{9D8B030D-6E8A-4147-A177-3AD203B41FA5}">
                      <a16:colId xmlns:a16="http://schemas.microsoft.com/office/drawing/2014/main" val="4094954316"/>
                    </a:ext>
                  </a:extLst>
                </a:gridCol>
                <a:gridCol w="1797131">
                  <a:extLst>
                    <a:ext uri="{9D8B030D-6E8A-4147-A177-3AD203B41FA5}">
                      <a16:colId xmlns:a16="http://schemas.microsoft.com/office/drawing/2014/main" val="2146055427"/>
                    </a:ext>
                  </a:extLst>
                </a:gridCol>
                <a:gridCol w="1797131">
                  <a:extLst>
                    <a:ext uri="{9D8B030D-6E8A-4147-A177-3AD203B41FA5}">
                      <a16:colId xmlns:a16="http://schemas.microsoft.com/office/drawing/2014/main" val="1184141752"/>
                    </a:ext>
                  </a:extLst>
                </a:gridCol>
                <a:gridCol w="1797131">
                  <a:extLst>
                    <a:ext uri="{9D8B030D-6E8A-4147-A177-3AD203B41FA5}">
                      <a16:colId xmlns:a16="http://schemas.microsoft.com/office/drawing/2014/main" val="431181911"/>
                    </a:ext>
                  </a:extLst>
                </a:gridCol>
              </a:tblGrid>
              <a:tr h="491280">
                <a:tc>
                  <a:txBody>
                    <a:bodyPr/>
                    <a:lstStyle/>
                    <a:p>
                      <a:pPr algn="l">
                        <a:lnSpc>
                          <a:spcPct val="150000"/>
                        </a:lnSpc>
                        <a:buNone/>
                      </a:pPr>
                      <a:endParaRPr lang="en-IN" sz="1400" dirty="0">
                        <a:latin typeface="Times New Roman" panose="02020603050405020304" pitchFamily="18" charset="0"/>
                        <a:cs typeface="Times New Roman" panose="02020603050405020304" pitchFamily="18" charset="0"/>
                      </a:endParaRPr>
                    </a:p>
                  </a:txBody>
                  <a:tcPr marL="70183" marR="70183" marT="35091" marB="35091" anchor="ctr">
                    <a:lnL>
                      <a:noFill/>
                    </a:lnL>
                    <a:lnR>
                      <a:noFill/>
                    </a:lnR>
                    <a:lnT>
                      <a:noFill/>
                    </a:lnT>
                    <a:lnB>
                      <a:noFill/>
                    </a:lnB>
                    <a:noFill/>
                  </a:tcPr>
                </a:tc>
                <a:tc>
                  <a:txBody>
                    <a:bodyPr/>
                    <a:lstStyle/>
                    <a:p>
                      <a:pPr algn="l">
                        <a:lnSpc>
                          <a:spcPct val="150000"/>
                        </a:lnSpc>
                        <a:buNone/>
                      </a:pPr>
                      <a:endParaRPr lang="en-IN" sz="1400">
                        <a:latin typeface="Times New Roman" panose="02020603050405020304" pitchFamily="18" charset="0"/>
                        <a:cs typeface="Times New Roman" panose="02020603050405020304" pitchFamily="18" charset="0"/>
                      </a:endParaRPr>
                    </a:p>
                  </a:txBody>
                  <a:tcPr marL="70183" marR="70183" marT="35091" marB="35091" anchor="ctr">
                    <a:lnL>
                      <a:noFill/>
                    </a:lnL>
                    <a:lnR>
                      <a:noFill/>
                    </a:lnR>
                    <a:lnT>
                      <a:noFill/>
                    </a:lnT>
                    <a:lnB>
                      <a:noFill/>
                    </a:lnB>
                    <a:noFill/>
                  </a:tcPr>
                </a:tc>
                <a:tc>
                  <a:txBody>
                    <a:bodyPr/>
                    <a:lstStyle/>
                    <a:p>
                      <a:pPr algn="l">
                        <a:lnSpc>
                          <a:spcPct val="150000"/>
                        </a:lnSpc>
                        <a:buNone/>
                      </a:pPr>
                      <a:endParaRPr lang="en-IN" sz="1400">
                        <a:latin typeface="Times New Roman" panose="02020603050405020304" pitchFamily="18" charset="0"/>
                        <a:cs typeface="Times New Roman" panose="02020603050405020304" pitchFamily="18" charset="0"/>
                      </a:endParaRPr>
                    </a:p>
                  </a:txBody>
                  <a:tcPr marL="70183" marR="70183" marT="35091" marB="35091" anchor="ctr">
                    <a:lnL>
                      <a:noFill/>
                    </a:lnL>
                    <a:lnR>
                      <a:noFill/>
                    </a:lnR>
                    <a:lnT>
                      <a:noFill/>
                    </a:lnT>
                    <a:lnB>
                      <a:noFill/>
                    </a:lnB>
                    <a:noFill/>
                  </a:tcPr>
                </a:tc>
                <a:tc>
                  <a:txBody>
                    <a:bodyPr/>
                    <a:lstStyle/>
                    <a:p>
                      <a:pPr algn="l">
                        <a:lnSpc>
                          <a:spcPct val="150000"/>
                        </a:lnSpc>
                        <a:buNone/>
                      </a:pPr>
                      <a:endParaRPr lang="en-IN" sz="1400">
                        <a:latin typeface="Times New Roman" panose="02020603050405020304" pitchFamily="18" charset="0"/>
                        <a:cs typeface="Times New Roman" panose="02020603050405020304" pitchFamily="18" charset="0"/>
                      </a:endParaRPr>
                    </a:p>
                  </a:txBody>
                  <a:tcPr marL="70183" marR="70183" marT="35091" marB="35091" anchor="ctr">
                    <a:lnL>
                      <a:noFill/>
                    </a:lnL>
                    <a:lnR>
                      <a:noFill/>
                    </a:lnR>
                    <a:lnT>
                      <a:noFill/>
                    </a:lnT>
                    <a:lnB>
                      <a:noFill/>
                    </a:lnB>
                    <a:noFill/>
                  </a:tcPr>
                </a:tc>
                <a:tc>
                  <a:txBody>
                    <a:bodyPr/>
                    <a:lstStyle/>
                    <a:p>
                      <a:pPr algn="l">
                        <a:lnSpc>
                          <a:spcPct val="150000"/>
                        </a:lnSpc>
                        <a:buNone/>
                      </a:pPr>
                      <a:endParaRPr lang="en-IN" sz="1400">
                        <a:latin typeface="Times New Roman" panose="02020603050405020304" pitchFamily="18" charset="0"/>
                        <a:cs typeface="Times New Roman" panose="02020603050405020304" pitchFamily="18" charset="0"/>
                      </a:endParaRPr>
                    </a:p>
                  </a:txBody>
                  <a:tcPr marL="70183" marR="70183" marT="35091" marB="35091" anchor="ctr">
                    <a:lnL>
                      <a:noFill/>
                    </a:lnL>
                    <a:lnR>
                      <a:noFill/>
                    </a:lnR>
                    <a:lnT>
                      <a:noFill/>
                    </a:lnT>
                    <a:lnB>
                      <a:noFill/>
                    </a:lnB>
                    <a:noFill/>
                  </a:tcPr>
                </a:tc>
                <a:tc>
                  <a:txBody>
                    <a:bodyPr/>
                    <a:lstStyle/>
                    <a:p>
                      <a:pPr algn="l">
                        <a:lnSpc>
                          <a:spcPct val="150000"/>
                        </a:lnSpc>
                        <a:buNone/>
                      </a:pPr>
                      <a:endParaRPr lang="en-IN" sz="1400">
                        <a:latin typeface="Times New Roman" panose="02020603050405020304" pitchFamily="18" charset="0"/>
                        <a:cs typeface="Times New Roman" panose="02020603050405020304" pitchFamily="18" charset="0"/>
                      </a:endParaRPr>
                    </a:p>
                  </a:txBody>
                  <a:tcPr marL="70183" marR="70183" marT="35091" marB="35091" anchor="ctr">
                    <a:lnL>
                      <a:noFill/>
                    </a:lnL>
                    <a:lnR>
                      <a:noFill/>
                    </a:lnR>
                    <a:lnT>
                      <a:noFill/>
                    </a:lnT>
                    <a:lnB>
                      <a:noFill/>
                    </a:lnB>
                    <a:noFill/>
                  </a:tcPr>
                </a:tc>
                <a:extLst>
                  <a:ext uri="{0D108BD9-81ED-4DB2-BD59-A6C34878D82A}">
                    <a16:rowId xmlns:a16="http://schemas.microsoft.com/office/drawing/2014/main" val="177392709"/>
                  </a:ext>
                </a:extLst>
              </a:tr>
              <a:tr h="701829">
                <a:tc>
                  <a:txBody>
                    <a:bodyPr/>
                    <a:lstStyle/>
                    <a:p>
                      <a:pPr algn="l">
                        <a:lnSpc>
                          <a:spcPct val="150000"/>
                        </a:lnSpc>
                        <a:buNone/>
                      </a:pPr>
                      <a:endParaRPr lang="en-IN" sz="1400" dirty="0">
                        <a:latin typeface="Times New Roman" panose="02020603050405020304" pitchFamily="18" charset="0"/>
                        <a:cs typeface="Times New Roman" panose="02020603050405020304" pitchFamily="18" charset="0"/>
                      </a:endParaRPr>
                    </a:p>
                  </a:txBody>
                  <a:tcPr marL="70183" marR="70183" marT="35091" marB="35091" anchor="ctr">
                    <a:lnL>
                      <a:noFill/>
                    </a:lnL>
                    <a:lnR>
                      <a:noFill/>
                    </a:lnR>
                    <a:lnT>
                      <a:noFill/>
                    </a:lnT>
                    <a:lnB>
                      <a:noFill/>
                    </a:lnB>
                    <a:noFill/>
                  </a:tcPr>
                </a:tc>
                <a:tc>
                  <a:txBody>
                    <a:bodyPr/>
                    <a:lstStyle/>
                    <a:p>
                      <a:pPr algn="l">
                        <a:lnSpc>
                          <a:spcPct val="150000"/>
                        </a:lnSpc>
                        <a:buNone/>
                      </a:pPr>
                      <a:endParaRPr lang="en-IN" sz="1400">
                        <a:latin typeface="Times New Roman" panose="02020603050405020304" pitchFamily="18" charset="0"/>
                        <a:cs typeface="Times New Roman" panose="02020603050405020304" pitchFamily="18" charset="0"/>
                      </a:endParaRPr>
                    </a:p>
                  </a:txBody>
                  <a:tcPr marL="70183" marR="70183" marT="35091" marB="35091" anchor="ctr">
                    <a:lnL>
                      <a:noFill/>
                    </a:lnL>
                    <a:lnR>
                      <a:noFill/>
                    </a:lnR>
                    <a:lnT>
                      <a:noFill/>
                    </a:lnT>
                    <a:lnB>
                      <a:noFill/>
                    </a:lnB>
                    <a:noFill/>
                  </a:tcPr>
                </a:tc>
                <a:tc>
                  <a:txBody>
                    <a:bodyPr/>
                    <a:lstStyle/>
                    <a:p>
                      <a:pPr algn="l">
                        <a:lnSpc>
                          <a:spcPct val="150000"/>
                        </a:lnSpc>
                        <a:buNone/>
                      </a:pPr>
                      <a:endParaRPr lang="en-IN" sz="1400">
                        <a:latin typeface="Times New Roman" panose="02020603050405020304" pitchFamily="18" charset="0"/>
                        <a:cs typeface="Times New Roman" panose="02020603050405020304" pitchFamily="18" charset="0"/>
                      </a:endParaRPr>
                    </a:p>
                  </a:txBody>
                  <a:tcPr marL="70183" marR="70183" marT="35091" marB="35091" anchor="ctr">
                    <a:lnL>
                      <a:noFill/>
                    </a:lnL>
                    <a:lnR>
                      <a:noFill/>
                    </a:lnR>
                    <a:lnT>
                      <a:noFill/>
                    </a:lnT>
                    <a:lnB>
                      <a:noFill/>
                    </a:lnB>
                    <a:noFill/>
                  </a:tcPr>
                </a:tc>
                <a:tc>
                  <a:txBody>
                    <a:bodyPr/>
                    <a:lstStyle/>
                    <a:p>
                      <a:pPr algn="l">
                        <a:lnSpc>
                          <a:spcPct val="150000"/>
                        </a:lnSpc>
                        <a:buNone/>
                      </a:pPr>
                      <a:endParaRPr lang="en-IN" sz="1400">
                        <a:latin typeface="Times New Roman" panose="02020603050405020304" pitchFamily="18" charset="0"/>
                        <a:cs typeface="Times New Roman" panose="02020603050405020304" pitchFamily="18" charset="0"/>
                      </a:endParaRPr>
                    </a:p>
                  </a:txBody>
                  <a:tcPr marL="70183" marR="70183" marT="35091" marB="35091" anchor="ctr">
                    <a:lnL>
                      <a:noFill/>
                    </a:lnL>
                    <a:lnR>
                      <a:noFill/>
                    </a:lnR>
                    <a:lnT>
                      <a:noFill/>
                    </a:lnT>
                    <a:lnB>
                      <a:noFill/>
                    </a:lnB>
                    <a:noFill/>
                  </a:tcPr>
                </a:tc>
                <a:tc>
                  <a:txBody>
                    <a:bodyPr/>
                    <a:lstStyle/>
                    <a:p>
                      <a:pPr algn="l">
                        <a:lnSpc>
                          <a:spcPct val="150000"/>
                        </a:lnSpc>
                        <a:buNone/>
                      </a:pPr>
                      <a:endParaRPr lang="en-IN" sz="1400">
                        <a:latin typeface="Times New Roman" panose="02020603050405020304" pitchFamily="18" charset="0"/>
                        <a:cs typeface="Times New Roman" panose="02020603050405020304" pitchFamily="18" charset="0"/>
                      </a:endParaRPr>
                    </a:p>
                  </a:txBody>
                  <a:tcPr marL="70183" marR="70183" marT="35091" marB="35091" anchor="ctr">
                    <a:lnL>
                      <a:noFill/>
                    </a:lnL>
                    <a:lnR>
                      <a:noFill/>
                    </a:lnR>
                    <a:lnT>
                      <a:noFill/>
                    </a:lnT>
                    <a:lnB>
                      <a:noFill/>
                    </a:lnB>
                    <a:noFill/>
                  </a:tcPr>
                </a:tc>
                <a:tc>
                  <a:txBody>
                    <a:bodyPr/>
                    <a:lstStyle/>
                    <a:p>
                      <a:pPr algn="l">
                        <a:lnSpc>
                          <a:spcPct val="150000"/>
                        </a:lnSpc>
                        <a:buNone/>
                      </a:pPr>
                      <a:endParaRPr lang="en-US" sz="1400">
                        <a:latin typeface="Times New Roman" panose="02020603050405020304" pitchFamily="18" charset="0"/>
                        <a:cs typeface="Times New Roman" panose="02020603050405020304" pitchFamily="18" charset="0"/>
                      </a:endParaRPr>
                    </a:p>
                  </a:txBody>
                  <a:tcPr marL="70183" marR="70183" marT="35091" marB="35091" anchor="ctr">
                    <a:lnL>
                      <a:noFill/>
                    </a:lnL>
                    <a:lnR>
                      <a:noFill/>
                    </a:lnR>
                    <a:lnT>
                      <a:noFill/>
                    </a:lnT>
                    <a:lnB>
                      <a:noFill/>
                    </a:lnB>
                    <a:noFill/>
                  </a:tcPr>
                </a:tc>
                <a:extLst>
                  <a:ext uri="{0D108BD9-81ED-4DB2-BD59-A6C34878D82A}">
                    <a16:rowId xmlns:a16="http://schemas.microsoft.com/office/drawing/2014/main" val="1480207502"/>
                  </a:ext>
                </a:extLst>
              </a:tr>
              <a:tr h="912377">
                <a:tc>
                  <a:txBody>
                    <a:bodyPr/>
                    <a:lstStyle/>
                    <a:p>
                      <a:pPr algn="l">
                        <a:lnSpc>
                          <a:spcPct val="150000"/>
                        </a:lnSpc>
                        <a:buNone/>
                      </a:pPr>
                      <a:endParaRPr lang="en-IN" sz="1400">
                        <a:latin typeface="Times New Roman" panose="02020603050405020304" pitchFamily="18" charset="0"/>
                        <a:cs typeface="Times New Roman" panose="02020603050405020304" pitchFamily="18" charset="0"/>
                      </a:endParaRPr>
                    </a:p>
                  </a:txBody>
                  <a:tcPr marL="70183" marR="70183" marT="35091" marB="35091" anchor="ctr">
                    <a:lnL>
                      <a:noFill/>
                    </a:lnL>
                    <a:lnR>
                      <a:noFill/>
                    </a:lnR>
                    <a:lnT>
                      <a:noFill/>
                    </a:lnT>
                    <a:lnB>
                      <a:noFill/>
                    </a:lnB>
                    <a:noFill/>
                  </a:tcPr>
                </a:tc>
                <a:tc>
                  <a:txBody>
                    <a:bodyPr/>
                    <a:lstStyle/>
                    <a:p>
                      <a:pPr algn="l">
                        <a:lnSpc>
                          <a:spcPct val="150000"/>
                        </a:lnSpc>
                        <a:buNone/>
                      </a:pPr>
                      <a:endParaRPr lang="en-IN" sz="1400">
                        <a:latin typeface="Times New Roman" panose="02020603050405020304" pitchFamily="18" charset="0"/>
                        <a:cs typeface="Times New Roman" panose="02020603050405020304" pitchFamily="18" charset="0"/>
                      </a:endParaRPr>
                    </a:p>
                  </a:txBody>
                  <a:tcPr marL="70183" marR="70183" marT="35091" marB="35091" anchor="ctr">
                    <a:lnL>
                      <a:noFill/>
                    </a:lnL>
                    <a:lnR>
                      <a:noFill/>
                    </a:lnR>
                    <a:lnT>
                      <a:noFill/>
                    </a:lnT>
                    <a:lnB>
                      <a:noFill/>
                    </a:lnB>
                    <a:noFill/>
                  </a:tcPr>
                </a:tc>
                <a:tc>
                  <a:txBody>
                    <a:bodyPr/>
                    <a:lstStyle/>
                    <a:p>
                      <a:pPr algn="l">
                        <a:lnSpc>
                          <a:spcPct val="150000"/>
                        </a:lnSpc>
                        <a:buNone/>
                      </a:pPr>
                      <a:endParaRPr lang="en-IN" sz="1400">
                        <a:latin typeface="Times New Roman" panose="02020603050405020304" pitchFamily="18" charset="0"/>
                        <a:cs typeface="Times New Roman" panose="02020603050405020304" pitchFamily="18" charset="0"/>
                      </a:endParaRPr>
                    </a:p>
                  </a:txBody>
                  <a:tcPr marL="70183" marR="70183" marT="35091" marB="35091" anchor="ctr">
                    <a:lnL>
                      <a:noFill/>
                    </a:lnL>
                    <a:lnR>
                      <a:noFill/>
                    </a:lnR>
                    <a:lnT>
                      <a:noFill/>
                    </a:lnT>
                    <a:lnB>
                      <a:noFill/>
                    </a:lnB>
                    <a:noFill/>
                  </a:tcPr>
                </a:tc>
                <a:tc>
                  <a:txBody>
                    <a:bodyPr/>
                    <a:lstStyle/>
                    <a:p>
                      <a:pPr algn="l">
                        <a:lnSpc>
                          <a:spcPct val="150000"/>
                        </a:lnSpc>
                        <a:buNone/>
                      </a:pPr>
                      <a:endParaRPr lang="en-IN" sz="1400">
                        <a:latin typeface="Times New Roman" panose="02020603050405020304" pitchFamily="18" charset="0"/>
                        <a:cs typeface="Times New Roman" panose="02020603050405020304" pitchFamily="18" charset="0"/>
                      </a:endParaRPr>
                    </a:p>
                  </a:txBody>
                  <a:tcPr marL="70183" marR="70183" marT="35091" marB="35091" anchor="ctr">
                    <a:lnL>
                      <a:noFill/>
                    </a:lnL>
                    <a:lnR>
                      <a:noFill/>
                    </a:lnR>
                    <a:lnT>
                      <a:noFill/>
                    </a:lnT>
                    <a:lnB>
                      <a:noFill/>
                    </a:lnB>
                    <a:noFill/>
                  </a:tcPr>
                </a:tc>
                <a:tc>
                  <a:txBody>
                    <a:bodyPr/>
                    <a:lstStyle/>
                    <a:p>
                      <a:pPr algn="l">
                        <a:lnSpc>
                          <a:spcPct val="150000"/>
                        </a:lnSpc>
                        <a:buNone/>
                      </a:pPr>
                      <a:endParaRPr lang="en-IN" sz="1400">
                        <a:latin typeface="Times New Roman" panose="02020603050405020304" pitchFamily="18" charset="0"/>
                        <a:cs typeface="Times New Roman" panose="02020603050405020304" pitchFamily="18" charset="0"/>
                      </a:endParaRPr>
                    </a:p>
                  </a:txBody>
                  <a:tcPr marL="70183" marR="70183" marT="35091" marB="35091" anchor="ctr">
                    <a:lnL>
                      <a:noFill/>
                    </a:lnL>
                    <a:lnR>
                      <a:noFill/>
                    </a:lnR>
                    <a:lnT>
                      <a:noFill/>
                    </a:lnT>
                    <a:lnB>
                      <a:noFill/>
                    </a:lnB>
                    <a:noFill/>
                  </a:tcPr>
                </a:tc>
                <a:tc>
                  <a:txBody>
                    <a:bodyPr/>
                    <a:lstStyle/>
                    <a:p>
                      <a:pPr algn="l">
                        <a:lnSpc>
                          <a:spcPct val="150000"/>
                        </a:lnSpc>
                        <a:buNone/>
                      </a:pPr>
                      <a:endParaRPr lang="en-US" sz="1400">
                        <a:latin typeface="Times New Roman" panose="02020603050405020304" pitchFamily="18" charset="0"/>
                        <a:cs typeface="Times New Roman" panose="02020603050405020304" pitchFamily="18" charset="0"/>
                      </a:endParaRPr>
                    </a:p>
                  </a:txBody>
                  <a:tcPr marL="70183" marR="70183" marT="35091" marB="35091" anchor="ctr">
                    <a:lnL>
                      <a:noFill/>
                    </a:lnL>
                    <a:lnR>
                      <a:noFill/>
                    </a:lnR>
                    <a:lnT>
                      <a:noFill/>
                    </a:lnT>
                    <a:lnB>
                      <a:noFill/>
                    </a:lnB>
                    <a:noFill/>
                  </a:tcPr>
                </a:tc>
                <a:extLst>
                  <a:ext uri="{0D108BD9-81ED-4DB2-BD59-A6C34878D82A}">
                    <a16:rowId xmlns:a16="http://schemas.microsoft.com/office/drawing/2014/main" val="3989016091"/>
                  </a:ext>
                </a:extLst>
              </a:tr>
              <a:tr h="1122926">
                <a:tc>
                  <a:txBody>
                    <a:bodyPr/>
                    <a:lstStyle/>
                    <a:p>
                      <a:pPr algn="l">
                        <a:lnSpc>
                          <a:spcPct val="150000"/>
                        </a:lnSpc>
                        <a:buNone/>
                      </a:pPr>
                      <a:endParaRPr lang="en-IN" sz="1400">
                        <a:latin typeface="Times New Roman" panose="02020603050405020304" pitchFamily="18" charset="0"/>
                        <a:cs typeface="Times New Roman" panose="02020603050405020304" pitchFamily="18" charset="0"/>
                      </a:endParaRPr>
                    </a:p>
                  </a:txBody>
                  <a:tcPr marL="70183" marR="70183" marT="35091" marB="35091" anchor="ctr">
                    <a:lnL>
                      <a:noFill/>
                    </a:lnL>
                    <a:lnR>
                      <a:noFill/>
                    </a:lnR>
                    <a:lnT>
                      <a:noFill/>
                    </a:lnT>
                    <a:lnB>
                      <a:noFill/>
                    </a:lnB>
                    <a:noFill/>
                  </a:tcPr>
                </a:tc>
                <a:tc>
                  <a:txBody>
                    <a:bodyPr/>
                    <a:lstStyle/>
                    <a:p>
                      <a:pPr algn="l">
                        <a:lnSpc>
                          <a:spcPct val="150000"/>
                        </a:lnSpc>
                        <a:buNone/>
                      </a:pPr>
                      <a:endParaRPr lang="en-IN" sz="1400">
                        <a:latin typeface="Times New Roman" panose="02020603050405020304" pitchFamily="18" charset="0"/>
                        <a:cs typeface="Times New Roman" panose="02020603050405020304" pitchFamily="18" charset="0"/>
                      </a:endParaRPr>
                    </a:p>
                  </a:txBody>
                  <a:tcPr marL="70183" marR="70183" marT="35091" marB="35091" anchor="ctr">
                    <a:lnL>
                      <a:noFill/>
                    </a:lnL>
                    <a:lnR>
                      <a:noFill/>
                    </a:lnR>
                    <a:lnT>
                      <a:noFill/>
                    </a:lnT>
                    <a:lnB>
                      <a:noFill/>
                    </a:lnB>
                    <a:noFill/>
                  </a:tcPr>
                </a:tc>
                <a:tc>
                  <a:txBody>
                    <a:bodyPr/>
                    <a:lstStyle/>
                    <a:p>
                      <a:pPr algn="l">
                        <a:lnSpc>
                          <a:spcPct val="150000"/>
                        </a:lnSpc>
                        <a:buNone/>
                      </a:pPr>
                      <a:endParaRPr lang="en-IN" sz="1400">
                        <a:latin typeface="Times New Roman" panose="02020603050405020304" pitchFamily="18" charset="0"/>
                        <a:cs typeface="Times New Roman" panose="02020603050405020304" pitchFamily="18" charset="0"/>
                      </a:endParaRPr>
                    </a:p>
                  </a:txBody>
                  <a:tcPr marL="70183" marR="70183" marT="35091" marB="35091" anchor="ctr">
                    <a:lnL>
                      <a:noFill/>
                    </a:lnL>
                    <a:lnR>
                      <a:noFill/>
                    </a:lnR>
                    <a:lnT>
                      <a:noFill/>
                    </a:lnT>
                    <a:lnB>
                      <a:noFill/>
                    </a:lnB>
                    <a:noFill/>
                  </a:tcPr>
                </a:tc>
                <a:tc>
                  <a:txBody>
                    <a:bodyPr/>
                    <a:lstStyle/>
                    <a:p>
                      <a:pPr algn="l">
                        <a:lnSpc>
                          <a:spcPct val="150000"/>
                        </a:lnSpc>
                        <a:buNone/>
                      </a:pPr>
                      <a:endParaRPr lang="en-IN" sz="1400">
                        <a:latin typeface="Times New Roman" panose="02020603050405020304" pitchFamily="18" charset="0"/>
                        <a:cs typeface="Times New Roman" panose="02020603050405020304" pitchFamily="18" charset="0"/>
                      </a:endParaRPr>
                    </a:p>
                  </a:txBody>
                  <a:tcPr marL="70183" marR="70183" marT="35091" marB="35091" anchor="ctr">
                    <a:lnL>
                      <a:noFill/>
                    </a:lnL>
                    <a:lnR>
                      <a:noFill/>
                    </a:lnR>
                    <a:lnT>
                      <a:noFill/>
                    </a:lnT>
                    <a:lnB>
                      <a:noFill/>
                    </a:lnB>
                    <a:noFill/>
                  </a:tcPr>
                </a:tc>
                <a:tc>
                  <a:txBody>
                    <a:bodyPr/>
                    <a:lstStyle/>
                    <a:p>
                      <a:pPr algn="l">
                        <a:lnSpc>
                          <a:spcPct val="150000"/>
                        </a:lnSpc>
                        <a:buNone/>
                      </a:pPr>
                      <a:endParaRPr lang="en-IN" sz="1400">
                        <a:latin typeface="Times New Roman" panose="02020603050405020304" pitchFamily="18" charset="0"/>
                        <a:cs typeface="Times New Roman" panose="02020603050405020304" pitchFamily="18" charset="0"/>
                      </a:endParaRPr>
                    </a:p>
                  </a:txBody>
                  <a:tcPr marL="70183" marR="70183" marT="35091" marB="35091" anchor="ctr">
                    <a:lnL>
                      <a:noFill/>
                    </a:lnL>
                    <a:lnR>
                      <a:noFill/>
                    </a:lnR>
                    <a:lnT>
                      <a:noFill/>
                    </a:lnT>
                    <a:lnB>
                      <a:noFill/>
                    </a:lnB>
                    <a:noFill/>
                  </a:tcPr>
                </a:tc>
                <a:tc>
                  <a:txBody>
                    <a:bodyPr/>
                    <a:lstStyle/>
                    <a:p>
                      <a:pPr algn="l">
                        <a:lnSpc>
                          <a:spcPct val="150000"/>
                        </a:lnSpc>
                        <a:buNone/>
                      </a:pPr>
                      <a:endParaRPr lang="en-US" sz="1400">
                        <a:latin typeface="Times New Roman" panose="02020603050405020304" pitchFamily="18" charset="0"/>
                        <a:cs typeface="Times New Roman" panose="02020603050405020304" pitchFamily="18" charset="0"/>
                      </a:endParaRPr>
                    </a:p>
                  </a:txBody>
                  <a:tcPr marL="70183" marR="70183" marT="35091" marB="35091" anchor="ctr">
                    <a:lnL>
                      <a:noFill/>
                    </a:lnL>
                    <a:lnR>
                      <a:noFill/>
                    </a:lnR>
                    <a:lnT>
                      <a:noFill/>
                    </a:lnT>
                    <a:lnB>
                      <a:noFill/>
                    </a:lnB>
                    <a:noFill/>
                  </a:tcPr>
                </a:tc>
                <a:extLst>
                  <a:ext uri="{0D108BD9-81ED-4DB2-BD59-A6C34878D82A}">
                    <a16:rowId xmlns:a16="http://schemas.microsoft.com/office/drawing/2014/main" val="3321609728"/>
                  </a:ext>
                </a:extLst>
              </a:tr>
              <a:tr h="1122926">
                <a:tc>
                  <a:txBody>
                    <a:bodyPr/>
                    <a:lstStyle/>
                    <a:p>
                      <a:pPr algn="l">
                        <a:lnSpc>
                          <a:spcPct val="150000"/>
                        </a:lnSpc>
                        <a:buNone/>
                      </a:pPr>
                      <a:endParaRPr lang="en-IN" sz="1400">
                        <a:latin typeface="Times New Roman" panose="02020603050405020304" pitchFamily="18" charset="0"/>
                        <a:cs typeface="Times New Roman" panose="02020603050405020304" pitchFamily="18" charset="0"/>
                      </a:endParaRPr>
                    </a:p>
                  </a:txBody>
                  <a:tcPr marL="70183" marR="70183" marT="35091" marB="35091" anchor="ctr">
                    <a:lnL>
                      <a:noFill/>
                    </a:lnL>
                    <a:lnR>
                      <a:noFill/>
                    </a:lnR>
                    <a:lnT>
                      <a:noFill/>
                    </a:lnT>
                    <a:lnB>
                      <a:noFill/>
                    </a:lnB>
                    <a:noFill/>
                  </a:tcPr>
                </a:tc>
                <a:tc>
                  <a:txBody>
                    <a:bodyPr/>
                    <a:lstStyle/>
                    <a:p>
                      <a:pPr algn="l">
                        <a:lnSpc>
                          <a:spcPct val="150000"/>
                        </a:lnSpc>
                        <a:buNone/>
                      </a:pPr>
                      <a:endParaRPr lang="en-IN" sz="1400">
                        <a:latin typeface="Times New Roman" panose="02020603050405020304" pitchFamily="18" charset="0"/>
                        <a:cs typeface="Times New Roman" panose="02020603050405020304" pitchFamily="18" charset="0"/>
                      </a:endParaRPr>
                    </a:p>
                  </a:txBody>
                  <a:tcPr marL="70183" marR="70183" marT="35091" marB="35091" anchor="ctr">
                    <a:lnL>
                      <a:noFill/>
                    </a:lnL>
                    <a:lnR>
                      <a:noFill/>
                    </a:lnR>
                    <a:lnT>
                      <a:noFill/>
                    </a:lnT>
                    <a:lnB>
                      <a:noFill/>
                    </a:lnB>
                    <a:noFill/>
                  </a:tcPr>
                </a:tc>
                <a:tc>
                  <a:txBody>
                    <a:bodyPr/>
                    <a:lstStyle/>
                    <a:p>
                      <a:pPr algn="l">
                        <a:lnSpc>
                          <a:spcPct val="150000"/>
                        </a:lnSpc>
                        <a:buNone/>
                      </a:pPr>
                      <a:endParaRPr lang="en-IN" sz="1400">
                        <a:latin typeface="Times New Roman" panose="02020603050405020304" pitchFamily="18" charset="0"/>
                        <a:cs typeface="Times New Roman" panose="02020603050405020304" pitchFamily="18" charset="0"/>
                      </a:endParaRPr>
                    </a:p>
                  </a:txBody>
                  <a:tcPr marL="70183" marR="70183" marT="35091" marB="35091" anchor="ctr">
                    <a:lnL>
                      <a:noFill/>
                    </a:lnL>
                    <a:lnR>
                      <a:noFill/>
                    </a:lnR>
                    <a:lnT>
                      <a:noFill/>
                    </a:lnT>
                    <a:lnB>
                      <a:noFill/>
                    </a:lnB>
                    <a:noFill/>
                  </a:tcPr>
                </a:tc>
                <a:tc>
                  <a:txBody>
                    <a:bodyPr/>
                    <a:lstStyle/>
                    <a:p>
                      <a:pPr algn="l">
                        <a:lnSpc>
                          <a:spcPct val="150000"/>
                        </a:lnSpc>
                        <a:buNone/>
                      </a:pPr>
                      <a:endParaRPr lang="en-IN" sz="1400">
                        <a:latin typeface="Times New Roman" panose="02020603050405020304" pitchFamily="18" charset="0"/>
                        <a:cs typeface="Times New Roman" panose="02020603050405020304" pitchFamily="18" charset="0"/>
                      </a:endParaRPr>
                    </a:p>
                  </a:txBody>
                  <a:tcPr marL="70183" marR="70183" marT="35091" marB="35091" anchor="ctr">
                    <a:lnL>
                      <a:noFill/>
                    </a:lnL>
                    <a:lnR>
                      <a:noFill/>
                    </a:lnR>
                    <a:lnT>
                      <a:noFill/>
                    </a:lnT>
                    <a:lnB>
                      <a:noFill/>
                    </a:lnB>
                    <a:noFill/>
                  </a:tcPr>
                </a:tc>
                <a:tc>
                  <a:txBody>
                    <a:bodyPr/>
                    <a:lstStyle/>
                    <a:p>
                      <a:pPr algn="l">
                        <a:lnSpc>
                          <a:spcPct val="150000"/>
                        </a:lnSpc>
                        <a:buNone/>
                      </a:pPr>
                      <a:endParaRPr lang="en-IN" sz="1400">
                        <a:latin typeface="Times New Roman" panose="02020603050405020304" pitchFamily="18" charset="0"/>
                        <a:cs typeface="Times New Roman" panose="02020603050405020304" pitchFamily="18" charset="0"/>
                      </a:endParaRPr>
                    </a:p>
                  </a:txBody>
                  <a:tcPr marL="70183" marR="70183" marT="35091" marB="35091" anchor="ctr">
                    <a:lnL>
                      <a:noFill/>
                    </a:lnL>
                    <a:lnR>
                      <a:noFill/>
                    </a:lnR>
                    <a:lnT>
                      <a:noFill/>
                    </a:lnT>
                    <a:lnB>
                      <a:noFill/>
                    </a:lnB>
                    <a:noFill/>
                  </a:tcPr>
                </a:tc>
                <a:tc>
                  <a:txBody>
                    <a:bodyPr/>
                    <a:lstStyle/>
                    <a:p>
                      <a:pPr algn="l">
                        <a:lnSpc>
                          <a:spcPct val="150000"/>
                        </a:lnSpc>
                        <a:buNone/>
                      </a:pPr>
                      <a:endParaRPr lang="en-US" sz="1400" dirty="0">
                        <a:latin typeface="Times New Roman" panose="02020603050405020304" pitchFamily="18" charset="0"/>
                        <a:cs typeface="Times New Roman" panose="02020603050405020304" pitchFamily="18" charset="0"/>
                      </a:endParaRPr>
                    </a:p>
                  </a:txBody>
                  <a:tcPr marL="70183" marR="70183" marT="35091" marB="35091" anchor="ctr">
                    <a:lnL>
                      <a:noFill/>
                    </a:lnL>
                    <a:lnR>
                      <a:noFill/>
                    </a:lnR>
                    <a:lnT>
                      <a:noFill/>
                    </a:lnT>
                    <a:lnB>
                      <a:noFill/>
                    </a:lnB>
                    <a:noFill/>
                  </a:tcPr>
                </a:tc>
                <a:extLst>
                  <a:ext uri="{0D108BD9-81ED-4DB2-BD59-A6C34878D82A}">
                    <a16:rowId xmlns:a16="http://schemas.microsoft.com/office/drawing/2014/main" val="2896685038"/>
                  </a:ext>
                </a:extLst>
              </a:tr>
            </a:tbl>
          </a:graphicData>
        </a:graphic>
      </p:graphicFrame>
      <p:graphicFrame>
        <p:nvGraphicFramePr>
          <p:cNvPr id="7" name="Table 6">
            <a:extLst>
              <a:ext uri="{FF2B5EF4-FFF2-40B4-BE49-F238E27FC236}">
                <a16:creationId xmlns:a16="http://schemas.microsoft.com/office/drawing/2014/main" id="{5E7AACFB-7509-996C-92EA-2AC4EBCE4C1B}"/>
              </a:ext>
            </a:extLst>
          </p:cNvPr>
          <p:cNvGraphicFramePr>
            <a:graphicFrameLocks noGrp="1"/>
          </p:cNvGraphicFramePr>
          <p:nvPr/>
        </p:nvGraphicFramePr>
        <p:xfrm>
          <a:off x="936644" y="1434391"/>
          <a:ext cx="9645570" cy="4351338"/>
        </p:xfrm>
        <a:graphic>
          <a:graphicData uri="http://schemas.openxmlformats.org/drawingml/2006/table">
            <a:tbl>
              <a:tblPr/>
              <a:tblGrid>
                <a:gridCol w="1607595">
                  <a:extLst>
                    <a:ext uri="{9D8B030D-6E8A-4147-A177-3AD203B41FA5}">
                      <a16:colId xmlns:a16="http://schemas.microsoft.com/office/drawing/2014/main" val="1828062589"/>
                    </a:ext>
                  </a:extLst>
                </a:gridCol>
                <a:gridCol w="1607595">
                  <a:extLst>
                    <a:ext uri="{9D8B030D-6E8A-4147-A177-3AD203B41FA5}">
                      <a16:colId xmlns:a16="http://schemas.microsoft.com/office/drawing/2014/main" val="405445154"/>
                    </a:ext>
                  </a:extLst>
                </a:gridCol>
                <a:gridCol w="1607595">
                  <a:extLst>
                    <a:ext uri="{9D8B030D-6E8A-4147-A177-3AD203B41FA5}">
                      <a16:colId xmlns:a16="http://schemas.microsoft.com/office/drawing/2014/main" val="4088579110"/>
                    </a:ext>
                  </a:extLst>
                </a:gridCol>
                <a:gridCol w="1607595">
                  <a:extLst>
                    <a:ext uri="{9D8B030D-6E8A-4147-A177-3AD203B41FA5}">
                      <a16:colId xmlns:a16="http://schemas.microsoft.com/office/drawing/2014/main" val="295616941"/>
                    </a:ext>
                  </a:extLst>
                </a:gridCol>
                <a:gridCol w="1607595">
                  <a:extLst>
                    <a:ext uri="{9D8B030D-6E8A-4147-A177-3AD203B41FA5}">
                      <a16:colId xmlns:a16="http://schemas.microsoft.com/office/drawing/2014/main" val="298923372"/>
                    </a:ext>
                  </a:extLst>
                </a:gridCol>
                <a:gridCol w="1607595">
                  <a:extLst>
                    <a:ext uri="{9D8B030D-6E8A-4147-A177-3AD203B41FA5}">
                      <a16:colId xmlns:a16="http://schemas.microsoft.com/office/drawing/2014/main" val="1913486295"/>
                    </a:ext>
                  </a:extLst>
                </a:gridCol>
              </a:tblGrid>
              <a:tr h="491280">
                <a:tc>
                  <a:txBody>
                    <a:bodyPr/>
                    <a:lstStyle/>
                    <a:p>
                      <a:pPr>
                        <a:buNone/>
                      </a:pPr>
                      <a:endParaRPr lang="en-IN" sz="1400" dirty="0"/>
                    </a:p>
                  </a:txBody>
                  <a:tcPr marL="70183" marR="70183" marT="35091" marB="35091" anchor="ctr">
                    <a:lnL>
                      <a:noFill/>
                    </a:lnL>
                    <a:lnR>
                      <a:noFill/>
                    </a:lnR>
                    <a:lnT>
                      <a:noFill/>
                    </a:lnT>
                    <a:lnB>
                      <a:noFill/>
                    </a:lnB>
                    <a:noFill/>
                  </a:tcPr>
                </a:tc>
                <a:tc>
                  <a:txBody>
                    <a:bodyPr/>
                    <a:lstStyle/>
                    <a:p>
                      <a:pPr>
                        <a:buNone/>
                      </a:pPr>
                      <a:endParaRPr lang="en-IN" sz="1400"/>
                    </a:p>
                  </a:txBody>
                  <a:tcPr marL="70183" marR="70183" marT="35091" marB="35091" anchor="ctr">
                    <a:lnL>
                      <a:noFill/>
                    </a:lnL>
                    <a:lnR>
                      <a:noFill/>
                    </a:lnR>
                    <a:lnT>
                      <a:noFill/>
                    </a:lnT>
                    <a:lnB>
                      <a:noFill/>
                    </a:lnB>
                    <a:noFill/>
                  </a:tcPr>
                </a:tc>
                <a:tc>
                  <a:txBody>
                    <a:bodyPr/>
                    <a:lstStyle/>
                    <a:p>
                      <a:pPr>
                        <a:buNone/>
                      </a:pPr>
                      <a:endParaRPr lang="en-IN" sz="1400"/>
                    </a:p>
                  </a:txBody>
                  <a:tcPr marL="70183" marR="70183" marT="35091" marB="35091" anchor="ctr">
                    <a:lnL>
                      <a:noFill/>
                    </a:lnL>
                    <a:lnR>
                      <a:noFill/>
                    </a:lnR>
                    <a:lnT>
                      <a:noFill/>
                    </a:lnT>
                    <a:lnB>
                      <a:noFill/>
                    </a:lnB>
                    <a:noFill/>
                  </a:tcPr>
                </a:tc>
                <a:tc>
                  <a:txBody>
                    <a:bodyPr/>
                    <a:lstStyle/>
                    <a:p>
                      <a:pPr>
                        <a:buNone/>
                      </a:pPr>
                      <a:endParaRPr lang="en-IN" sz="1400"/>
                    </a:p>
                  </a:txBody>
                  <a:tcPr marL="70183" marR="70183" marT="35091" marB="35091" anchor="ctr">
                    <a:lnL>
                      <a:noFill/>
                    </a:lnL>
                    <a:lnR>
                      <a:noFill/>
                    </a:lnR>
                    <a:lnT>
                      <a:noFill/>
                    </a:lnT>
                    <a:lnB>
                      <a:noFill/>
                    </a:lnB>
                    <a:noFill/>
                  </a:tcPr>
                </a:tc>
                <a:tc>
                  <a:txBody>
                    <a:bodyPr/>
                    <a:lstStyle/>
                    <a:p>
                      <a:pPr>
                        <a:buNone/>
                      </a:pPr>
                      <a:endParaRPr lang="en-IN" sz="1400"/>
                    </a:p>
                  </a:txBody>
                  <a:tcPr marL="70183" marR="70183" marT="35091" marB="35091" anchor="ctr">
                    <a:lnL>
                      <a:noFill/>
                    </a:lnL>
                    <a:lnR>
                      <a:noFill/>
                    </a:lnR>
                    <a:lnT>
                      <a:noFill/>
                    </a:lnT>
                    <a:lnB>
                      <a:noFill/>
                    </a:lnB>
                    <a:noFill/>
                  </a:tcPr>
                </a:tc>
                <a:tc>
                  <a:txBody>
                    <a:bodyPr/>
                    <a:lstStyle/>
                    <a:p>
                      <a:pPr>
                        <a:buNone/>
                      </a:pPr>
                      <a:endParaRPr lang="en-IN" sz="1400"/>
                    </a:p>
                  </a:txBody>
                  <a:tcPr marL="70183" marR="70183" marT="35091" marB="35091" anchor="ctr">
                    <a:lnL>
                      <a:noFill/>
                    </a:lnL>
                    <a:lnR>
                      <a:noFill/>
                    </a:lnR>
                    <a:lnT>
                      <a:noFill/>
                    </a:lnT>
                    <a:lnB>
                      <a:noFill/>
                    </a:lnB>
                    <a:noFill/>
                  </a:tcPr>
                </a:tc>
                <a:extLst>
                  <a:ext uri="{0D108BD9-81ED-4DB2-BD59-A6C34878D82A}">
                    <a16:rowId xmlns:a16="http://schemas.microsoft.com/office/drawing/2014/main" val="1349141774"/>
                  </a:ext>
                </a:extLst>
              </a:tr>
              <a:tr h="701829">
                <a:tc>
                  <a:txBody>
                    <a:bodyPr/>
                    <a:lstStyle/>
                    <a:p>
                      <a:pPr>
                        <a:buNone/>
                      </a:pPr>
                      <a:endParaRPr lang="en-IN" sz="1400" dirty="0"/>
                    </a:p>
                  </a:txBody>
                  <a:tcPr marL="70183" marR="70183" marT="35091" marB="35091" anchor="ctr">
                    <a:lnL>
                      <a:noFill/>
                    </a:lnL>
                    <a:lnR>
                      <a:noFill/>
                    </a:lnR>
                    <a:lnT>
                      <a:noFill/>
                    </a:lnT>
                    <a:lnB>
                      <a:noFill/>
                    </a:lnB>
                    <a:noFill/>
                  </a:tcPr>
                </a:tc>
                <a:tc>
                  <a:txBody>
                    <a:bodyPr/>
                    <a:lstStyle/>
                    <a:p>
                      <a:pPr>
                        <a:buNone/>
                      </a:pPr>
                      <a:endParaRPr lang="en-IN" sz="1400"/>
                    </a:p>
                  </a:txBody>
                  <a:tcPr marL="70183" marR="70183" marT="35091" marB="35091" anchor="ctr">
                    <a:lnL>
                      <a:noFill/>
                    </a:lnL>
                    <a:lnR>
                      <a:noFill/>
                    </a:lnR>
                    <a:lnT>
                      <a:noFill/>
                    </a:lnT>
                    <a:lnB>
                      <a:noFill/>
                    </a:lnB>
                    <a:noFill/>
                  </a:tcPr>
                </a:tc>
                <a:tc>
                  <a:txBody>
                    <a:bodyPr/>
                    <a:lstStyle/>
                    <a:p>
                      <a:pPr>
                        <a:buNone/>
                      </a:pPr>
                      <a:endParaRPr lang="en-IN" sz="1400"/>
                    </a:p>
                  </a:txBody>
                  <a:tcPr marL="70183" marR="70183" marT="35091" marB="35091" anchor="ctr">
                    <a:lnL>
                      <a:noFill/>
                    </a:lnL>
                    <a:lnR>
                      <a:noFill/>
                    </a:lnR>
                    <a:lnT>
                      <a:noFill/>
                    </a:lnT>
                    <a:lnB>
                      <a:noFill/>
                    </a:lnB>
                    <a:noFill/>
                  </a:tcPr>
                </a:tc>
                <a:tc>
                  <a:txBody>
                    <a:bodyPr/>
                    <a:lstStyle/>
                    <a:p>
                      <a:pPr>
                        <a:buNone/>
                      </a:pPr>
                      <a:endParaRPr lang="en-IN" sz="1400"/>
                    </a:p>
                  </a:txBody>
                  <a:tcPr marL="70183" marR="70183" marT="35091" marB="35091" anchor="ctr">
                    <a:lnL>
                      <a:noFill/>
                    </a:lnL>
                    <a:lnR>
                      <a:noFill/>
                    </a:lnR>
                    <a:lnT>
                      <a:noFill/>
                    </a:lnT>
                    <a:lnB>
                      <a:noFill/>
                    </a:lnB>
                    <a:noFill/>
                  </a:tcPr>
                </a:tc>
                <a:tc>
                  <a:txBody>
                    <a:bodyPr/>
                    <a:lstStyle/>
                    <a:p>
                      <a:pPr>
                        <a:buNone/>
                      </a:pPr>
                      <a:endParaRPr lang="en-IN" sz="1400"/>
                    </a:p>
                  </a:txBody>
                  <a:tcPr marL="70183" marR="70183" marT="35091" marB="35091" anchor="ctr">
                    <a:lnL>
                      <a:noFill/>
                    </a:lnL>
                    <a:lnR>
                      <a:noFill/>
                    </a:lnR>
                    <a:lnT>
                      <a:noFill/>
                    </a:lnT>
                    <a:lnB>
                      <a:noFill/>
                    </a:lnB>
                    <a:noFill/>
                  </a:tcPr>
                </a:tc>
                <a:tc>
                  <a:txBody>
                    <a:bodyPr/>
                    <a:lstStyle/>
                    <a:p>
                      <a:pPr>
                        <a:buNone/>
                      </a:pPr>
                      <a:endParaRPr lang="en-US" sz="1400"/>
                    </a:p>
                  </a:txBody>
                  <a:tcPr marL="70183" marR="70183" marT="35091" marB="35091" anchor="ctr">
                    <a:lnL>
                      <a:noFill/>
                    </a:lnL>
                    <a:lnR>
                      <a:noFill/>
                    </a:lnR>
                    <a:lnT>
                      <a:noFill/>
                    </a:lnT>
                    <a:lnB>
                      <a:noFill/>
                    </a:lnB>
                    <a:noFill/>
                  </a:tcPr>
                </a:tc>
                <a:extLst>
                  <a:ext uri="{0D108BD9-81ED-4DB2-BD59-A6C34878D82A}">
                    <a16:rowId xmlns:a16="http://schemas.microsoft.com/office/drawing/2014/main" val="600330007"/>
                  </a:ext>
                </a:extLst>
              </a:tr>
              <a:tr h="912377">
                <a:tc>
                  <a:txBody>
                    <a:bodyPr/>
                    <a:lstStyle/>
                    <a:p>
                      <a:pPr>
                        <a:buNone/>
                      </a:pPr>
                      <a:endParaRPr lang="en-IN" sz="1400"/>
                    </a:p>
                  </a:txBody>
                  <a:tcPr marL="70183" marR="70183" marT="35091" marB="35091" anchor="ctr">
                    <a:lnL>
                      <a:noFill/>
                    </a:lnL>
                    <a:lnR>
                      <a:noFill/>
                    </a:lnR>
                    <a:lnT>
                      <a:noFill/>
                    </a:lnT>
                    <a:lnB>
                      <a:noFill/>
                    </a:lnB>
                    <a:noFill/>
                  </a:tcPr>
                </a:tc>
                <a:tc>
                  <a:txBody>
                    <a:bodyPr/>
                    <a:lstStyle/>
                    <a:p>
                      <a:pPr>
                        <a:buNone/>
                      </a:pPr>
                      <a:endParaRPr lang="en-IN" sz="1400"/>
                    </a:p>
                  </a:txBody>
                  <a:tcPr marL="70183" marR="70183" marT="35091" marB="35091" anchor="ctr">
                    <a:lnL>
                      <a:noFill/>
                    </a:lnL>
                    <a:lnR>
                      <a:noFill/>
                    </a:lnR>
                    <a:lnT>
                      <a:noFill/>
                    </a:lnT>
                    <a:lnB>
                      <a:noFill/>
                    </a:lnB>
                    <a:noFill/>
                  </a:tcPr>
                </a:tc>
                <a:tc>
                  <a:txBody>
                    <a:bodyPr/>
                    <a:lstStyle/>
                    <a:p>
                      <a:pPr>
                        <a:buNone/>
                      </a:pPr>
                      <a:endParaRPr lang="en-IN" sz="1400"/>
                    </a:p>
                  </a:txBody>
                  <a:tcPr marL="70183" marR="70183" marT="35091" marB="35091" anchor="ctr">
                    <a:lnL>
                      <a:noFill/>
                    </a:lnL>
                    <a:lnR>
                      <a:noFill/>
                    </a:lnR>
                    <a:lnT>
                      <a:noFill/>
                    </a:lnT>
                    <a:lnB>
                      <a:noFill/>
                    </a:lnB>
                    <a:noFill/>
                  </a:tcPr>
                </a:tc>
                <a:tc>
                  <a:txBody>
                    <a:bodyPr/>
                    <a:lstStyle/>
                    <a:p>
                      <a:pPr>
                        <a:buNone/>
                      </a:pPr>
                      <a:endParaRPr lang="en-IN" sz="1400"/>
                    </a:p>
                  </a:txBody>
                  <a:tcPr marL="70183" marR="70183" marT="35091" marB="35091" anchor="ctr">
                    <a:lnL>
                      <a:noFill/>
                    </a:lnL>
                    <a:lnR>
                      <a:noFill/>
                    </a:lnR>
                    <a:lnT>
                      <a:noFill/>
                    </a:lnT>
                    <a:lnB>
                      <a:noFill/>
                    </a:lnB>
                    <a:noFill/>
                  </a:tcPr>
                </a:tc>
                <a:tc>
                  <a:txBody>
                    <a:bodyPr/>
                    <a:lstStyle/>
                    <a:p>
                      <a:pPr>
                        <a:buNone/>
                      </a:pPr>
                      <a:endParaRPr lang="en-IN" sz="1400"/>
                    </a:p>
                  </a:txBody>
                  <a:tcPr marL="70183" marR="70183" marT="35091" marB="35091" anchor="ctr">
                    <a:lnL>
                      <a:noFill/>
                    </a:lnL>
                    <a:lnR>
                      <a:noFill/>
                    </a:lnR>
                    <a:lnT>
                      <a:noFill/>
                    </a:lnT>
                    <a:lnB>
                      <a:noFill/>
                    </a:lnB>
                    <a:noFill/>
                  </a:tcPr>
                </a:tc>
                <a:tc>
                  <a:txBody>
                    <a:bodyPr/>
                    <a:lstStyle/>
                    <a:p>
                      <a:pPr>
                        <a:buNone/>
                      </a:pPr>
                      <a:endParaRPr lang="en-US" sz="1400"/>
                    </a:p>
                  </a:txBody>
                  <a:tcPr marL="70183" marR="70183" marT="35091" marB="35091" anchor="ctr">
                    <a:lnL>
                      <a:noFill/>
                    </a:lnL>
                    <a:lnR>
                      <a:noFill/>
                    </a:lnR>
                    <a:lnT>
                      <a:noFill/>
                    </a:lnT>
                    <a:lnB>
                      <a:noFill/>
                    </a:lnB>
                    <a:noFill/>
                  </a:tcPr>
                </a:tc>
                <a:extLst>
                  <a:ext uri="{0D108BD9-81ED-4DB2-BD59-A6C34878D82A}">
                    <a16:rowId xmlns:a16="http://schemas.microsoft.com/office/drawing/2014/main" val="49294330"/>
                  </a:ext>
                </a:extLst>
              </a:tr>
              <a:tr h="1122926">
                <a:tc>
                  <a:txBody>
                    <a:bodyPr/>
                    <a:lstStyle/>
                    <a:p>
                      <a:pPr>
                        <a:buNone/>
                      </a:pPr>
                      <a:endParaRPr lang="en-IN" sz="1400"/>
                    </a:p>
                  </a:txBody>
                  <a:tcPr marL="70183" marR="70183" marT="35091" marB="35091" anchor="ctr">
                    <a:lnL>
                      <a:noFill/>
                    </a:lnL>
                    <a:lnR>
                      <a:noFill/>
                    </a:lnR>
                    <a:lnT>
                      <a:noFill/>
                    </a:lnT>
                    <a:lnB>
                      <a:noFill/>
                    </a:lnB>
                    <a:noFill/>
                  </a:tcPr>
                </a:tc>
                <a:tc>
                  <a:txBody>
                    <a:bodyPr/>
                    <a:lstStyle/>
                    <a:p>
                      <a:pPr>
                        <a:buNone/>
                      </a:pPr>
                      <a:endParaRPr lang="en-IN" sz="1400"/>
                    </a:p>
                  </a:txBody>
                  <a:tcPr marL="70183" marR="70183" marT="35091" marB="35091" anchor="ctr">
                    <a:lnL>
                      <a:noFill/>
                    </a:lnL>
                    <a:lnR>
                      <a:noFill/>
                    </a:lnR>
                    <a:lnT>
                      <a:noFill/>
                    </a:lnT>
                    <a:lnB>
                      <a:noFill/>
                    </a:lnB>
                    <a:noFill/>
                  </a:tcPr>
                </a:tc>
                <a:tc>
                  <a:txBody>
                    <a:bodyPr/>
                    <a:lstStyle/>
                    <a:p>
                      <a:pPr>
                        <a:buNone/>
                      </a:pPr>
                      <a:endParaRPr lang="en-IN" sz="1400"/>
                    </a:p>
                  </a:txBody>
                  <a:tcPr marL="70183" marR="70183" marT="35091" marB="35091" anchor="ctr">
                    <a:lnL>
                      <a:noFill/>
                    </a:lnL>
                    <a:lnR>
                      <a:noFill/>
                    </a:lnR>
                    <a:lnT>
                      <a:noFill/>
                    </a:lnT>
                    <a:lnB>
                      <a:noFill/>
                    </a:lnB>
                    <a:noFill/>
                  </a:tcPr>
                </a:tc>
                <a:tc>
                  <a:txBody>
                    <a:bodyPr/>
                    <a:lstStyle/>
                    <a:p>
                      <a:pPr>
                        <a:buNone/>
                      </a:pPr>
                      <a:endParaRPr lang="en-IN" sz="1400"/>
                    </a:p>
                  </a:txBody>
                  <a:tcPr marL="70183" marR="70183" marT="35091" marB="35091" anchor="ctr">
                    <a:lnL>
                      <a:noFill/>
                    </a:lnL>
                    <a:lnR>
                      <a:noFill/>
                    </a:lnR>
                    <a:lnT>
                      <a:noFill/>
                    </a:lnT>
                    <a:lnB>
                      <a:noFill/>
                    </a:lnB>
                    <a:noFill/>
                  </a:tcPr>
                </a:tc>
                <a:tc>
                  <a:txBody>
                    <a:bodyPr/>
                    <a:lstStyle/>
                    <a:p>
                      <a:pPr>
                        <a:buNone/>
                      </a:pPr>
                      <a:endParaRPr lang="en-IN" sz="1400" dirty="0"/>
                    </a:p>
                  </a:txBody>
                  <a:tcPr marL="70183" marR="70183" marT="35091" marB="35091" anchor="ctr">
                    <a:lnL>
                      <a:noFill/>
                    </a:lnL>
                    <a:lnR>
                      <a:noFill/>
                    </a:lnR>
                    <a:lnT>
                      <a:noFill/>
                    </a:lnT>
                    <a:lnB>
                      <a:noFill/>
                    </a:lnB>
                    <a:noFill/>
                  </a:tcPr>
                </a:tc>
                <a:tc>
                  <a:txBody>
                    <a:bodyPr/>
                    <a:lstStyle/>
                    <a:p>
                      <a:pPr>
                        <a:buNone/>
                      </a:pPr>
                      <a:endParaRPr lang="en-US" sz="1400"/>
                    </a:p>
                  </a:txBody>
                  <a:tcPr marL="70183" marR="70183" marT="35091" marB="35091" anchor="ctr">
                    <a:lnL>
                      <a:noFill/>
                    </a:lnL>
                    <a:lnR>
                      <a:noFill/>
                    </a:lnR>
                    <a:lnT>
                      <a:noFill/>
                    </a:lnT>
                    <a:lnB>
                      <a:noFill/>
                    </a:lnB>
                    <a:noFill/>
                  </a:tcPr>
                </a:tc>
                <a:extLst>
                  <a:ext uri="{0D108BD9-81ED-4DB2-BD59-A6C34878D82A}">
                    <a16:rowId xmlns:a16="http://schemas.microsoft.com/office/drawing/2014/main" val="230688128"/>
                  </a:ext>
                </a:extLst>
              </a:tr>
              <a:tr h="1122926">
                <a:tc>
                  <a:txBody>
                    <a:bodyPr/>
                    <a:lstStyle/>
                    <a:p>
                      <a:pPr>
                        <a:buNone/>
                      </a:pPr>
                      <a:endParaRPr lang="en-IN" sz="1400"/>
                    </a:p>
                  </a:txBody>
                  <a:tcPr marL="70183" marR="70183" marT="35091" marB="35091" anchor="ctr">
                    <a:lnL>
                      <a:noFill/>
                    </a:lnL>
                    <a:lnR>
                      <a:noFill/>
                    </a:lnR>
                    <a:lnT>
                      <a:noFill/>
                    </a:lnT>
                    <a:lnB>
                      <a:noFill/>
                    </a:lnB>
                    <a:noFill/>
                  </a:tcPr>
                </a:tc>
                <a:tc>
                  <a:txBody>
                    <a:bodyPr/>
                    <a:lstStyle/>
                    <a:p>
                      <a:pPr>
                        <a:buNone/>
                      </a:pPr>
                      <a:endParaRPr lang="en-IN" sz="1400"/>
                    </a:p>
                  </a:txBody>
                  <a:tcPr marL="70183" marR="70183" marT="35091" marB="35091" anchor="ctr">
                    <a:lnL>
                      <a:noFill/>
                    </a:lnL>
                    <a:lnR>
                      <a:noFill/>
                    </a:lnR>
                    <a:lnT>
                      <a:noFill/>
                    </a:lnT>
                    <a:lnB>
                      <a:noFill/>
                    </a:lnB>
                    <a:noFill/>
                  </a:tcPr>
                </a:tc>
                <a:tc>
                  <a:txBody>
                    <a:bodyPr/>
                    <a:lstStyle/>
                    <a:p>
                      <a:pPr>
                        <a:buNone/>
                      </a:pPr>
                      <a:endParaRPr lang="en-IN" sz="1400"/>
                    </a:p>
                  </a:txBody>
                  <a:tcPr marL="70183" marR="70183" marT="35091" marB="35091" anchor="ctr">
                    <a:lnL>
                      <a:noFill/>
                    </a:lnL>
                    <a:lnR>
                      <a:noFill/>
                    </a:lnR>
                    <a:lnT>
                      <a:noFill/>
                    </a:lnT>
                    <a:lnB>
                      <a:noFill/>
                    </a:lnB>
                    <a:noFill/>
                  </a:tcPr>
                </a:tc>
                <a:tc>
                  <a:txBody>
                    <a:bodyPr/>
                    <a:lstStyle/>
                    <a:p>
                      <a:pPr>
                        <a:buNone/>
                      </a:pPr>
                      <a:endParaRPr lang="en-IN" sz="1400"/>
                    </a:p>
                  </a:txBody>
                  <a:tcPr marL="70183" marR="70183" marT="35091" marB="35091" anchor="ctr">
                    <a:lnL>
                      <a:noFill/>
                    </a:lnL>
                    <a:lnR>
                      <a:noFill/>
                    </a:lnR>
                    <a:lnT>
                      <a:noFill/>
                    </a:lnT>
                    <a:lnB>
                      <a:noFill/>
                    </a:lnB>
                    <a:noFill/>
                  </a:tcPr>
                </a:tc>
                <a:tc>
                  <a:txBody>
                    <a:bodyPr/>
                    <a:lstStyle/>
                    <a:p>
                      <a:pPr>
                        <a:buNone/>
                      </a:pPr>
                      <a:endParaRPr lang="en-IN" sz="1400"/>
                    </a:p>
                  </a:txBody>
                  <a:tcPr marL="70183" marR="70183" marT="35091" marB="35091" anchor="ctr">
                    <a:lnL>
                      <a:noFill/>
                    </a:lnL>
                    <a:lnR>
                      <a:noFill/>
                    </a:lnR>
                    <a:lnT>
                      <a:noFill/>
                    </a:lnT>
                    <a:lnB>
                      <a:noFill/>
                    </a:lnB>
                    <a:noFill/>
                  </a:tcPr>
                </a:tc>
                <a:tc>
                  <a:txBody>
                    <a:bodyPr/>
                    <a:lstStyle/>
                    <a:p>
                      <a:pPr>
                        <a:buNone/>
                      </a:pPr>
                      <a:endParaRPr lang="en-US" sz="1400" dirty="0"/>
                    </a:p>
                  </a:txBody>
                  <a:tcPr marL="70183" marR="70183" marT="35091" marB="35091" anchor="ctr">
                    <a:lnL>
                      <a:noFill/>
                    </a:lnL>
                    <a:lnR>
                      <a:noFill/>
                    </a:lnR>
                    <a:lnT>
                      <a:noFill/>
                    </a:lnT>
                    <a:lnB>
                      <a:noFill/>
                    </a:lnB>
                    <a:noFill/>
                  </a:tcPr>
                </a:tc>
                <a:extLst>
                  <a:ext uri="{0D108BD9-81ED-4DB2-BD59-A6C34878D82A}">
                    <a16:rowId xmlns:a16="http://schemas.microsoft.com/office/drawing/2014/main" val="3830099393"/>
                  </a:ext>
                </a:extLst>
              </a:tr>
            </a:tbl>
          </a:graphicData>
        </a:graphic>
      </p:graphicFrame>
      <p:graphicFrame>
        <p:nvGraphicFramePr>
          <p:cNvPr id="9" name="Table 8">
            <a:extLst>
              <a:ext uri="{FF2B5EF4-FFF2-40B4-BE49-F238E27FC236}">
                <a16:creationId xmlns:a16="http://schemas.microsoft.com/office/drawing/2014/main" id="{AEB224EB-C22A-8D84-2C15-09B0AB6F5D50}"/>
              </a:ext>
            </a:extLst>
          </p:cNvPr>
          <p:cNvGraphicFramePr>
            <a:graphicFrameLocks noGrp="1"/>
          </p:cNvGraphicFramePr>
          <p:nvPr/>
        </p:nvGraphicFramePr>
        <p:xfrm>
          <a:off x="838195" y="2200312"/>
          <a:ext cx="10515600" cy="4657688"/>
        </p:xfrm>
        <a:graphic>
          <a:graphicData uri="http://schemas.openxmlformats.org/drawingml/2006/table">
            <a:tbl>
              <a:tblPr/>
              <a:tblGrid>
                <a:gridCol w="1752600">
                  <a:extLst>
                    <a:ext uri="{9D8B030D-6E8A-4147-A177-3AD203B41FA5}">
                      <a16:colId xmlns:a16="http://schemas.microsoft.com/office/drawing/2014/main" val="1267376803"/>
                    </a:ext>
                  </a:extLst>
                </a:gridCol>
                <a:gridCol w="1752600">
                  <a:extLst>
                    <a:ext uri="{9D8B030D-6E8A-4147-A177-3AD203B41FA5}">
                      <a16:colId xmlns:a16="http://schemas.microsoft.com/office/drawing/2014/main" val="2640073509"/>
                    </a:ext>
                  </a:extLst>
                </a:gridCol>
                <a:gridCol w="1752600">
                  <a:extLst>
                    <a:ext uri="{9D8B030D-6E8A-4147-A177-3AD203B41FA5}">
                      <a16:colId xmlns:a16="http://schemas.microsoft.com/office/drawing/2014/main" val="464333933"/>
                    </a:ext>
                  </a:extLst>
                </a:gridCol>
                <a:gridCol w="2260927">
                  <a:extLst>
                    <a:ext uri="{9D8B030D-6E8A-4147-A177-3AD203B41FA5}">
                      <a16:colId xmlns:a16="http://schemas.microsoft.com/office/drawing/2014/main" val="2023975089"/>
                    </a:ext>
                  </a:extLst>
                </a:gridCol>
                <a:gridCol w="1527858">
                  <a:extLst>
                    <a:ext uri="{9D8B030D-6E8A-4147-A177-3AD203B41FA5}">
                      <a16:colId xmlns:a16="http://schemas.microsoft.com/office/drawing/2014/main" val="33980264"/>
                    </a:ext>
                  </a:extLst>
                </a:gridCol>
                <a:gridCol w="1469015">
                  <a:extLst>
                    <a:ext uri="{9D8B030D-6E8A-4147-A177-3AD203B41FA5}">
                      <a16:colId xmlns:a16="http://schemas.microsoft.com/office/drawing/2014/main" val="2016281148"/>
                    </a:ext>
                  </a:extLst>
                </a:gridCol>
              </a:tblGrid>
              <a:tr h="525868">
                <a:tc>
                  <a:txBody>
                    <a:bodyPr/>
                    <a:lstStyle/>
                    <a:p>
                      <a:pPr>
                        <a:buNone/>
                      </a:pPr>
                      <a:endParaRPr lang="en-IN" sz="1400" dirty="0"/>
                    </a:p>
                  </a:txBody>
                  <a:tcPr marL="70183" marR="70183" marT="35091" marB="35091" anchor="ctr">
                    <a:lnL>
                      <a:noFill/>
                    </a:lnL>
                    <a:lnR>
                      <a:noFill/>
                    </a:lnR>
                    <a:lnT>
                      <a:noFill/>
                    </a:lnT>
                    <a:lnB>
                      <a:noFill/>
                    </a:lnB>
                    <a:noFill/>
                  </a:tcPr>
                </a:tc>
                <a:tc>
                  <a:txBody>
                    <a:bodyPr/>
                    <a:lstStyle/>
                    <a:p>
                      <a:pPr>
                        <a:buNone/>
                      </a:pPr>
                      <a:endParaRPr lang="en-IN" sz="1400"/>
                    </a:p>
                  </a:txBody>
                  <a:tcPr marL="70183" marR="70183" marT="35091" marB="35091" anchor="ctr">
                    <a:lnL>
                      <a:noFill/>
                    </a:lnL>
                    <a:lnR>
                      <a:noFill/>
                    </a:lnR>
                    <a:lnT>
                      <a:noFill/>
                    </a:lnT>
                    <a:lnB>
                      <a:noFill/>
                    </a:lnB>
                    <a:noFill/>
                  </a:tcPr>
                </a:tc>
                <a:tc>
                  <a:txBody>
                    <a:bodyPr/>
                    <a:lstStyle/>
                    <a:p>
                      <a:pPr>
                        <a:buNone/>
                      </a:pPr>
                      <a:endParaRPr lang="en-IN" sz="1400"/>
                    </a:p>
                  </a:txBody>
                  <a:tcPr marL="70183" marR="70183" marT="35091" marB="35091" anchor="ctr">
                    <a:lnL>
                      <a:noFill/>
                    </a:lnL>
                    <a:lnR>
                      <a:noFill/>
                    </a:lnR>
                    <a:lnT>
                      <a:noFill/>
                    </a:lnT>
                    <a:lnB>
                      <a:noFill/>
                    </a:lnB>
                    <a:noFill/>
                  </a:tcPr>
                </a:tc>
                <a:tc>
                  <a:txBody>
                    <a:bodyPr/>
                    <a:lstStyle/>
                    <a:p>
                      <a:pPr>
                        <a:buNone/>
                      </a:pPr>
                      <a:endParaRPr lang="en-IN" sz="1400"/>
                    </a:p>
                  </a:txBody>
                  <a:tcPr marL="70183" marR="70183" marT="35091" marB="35091" anchor="ctr">
                    <a:lnL>
                      <a:noFill/>
                    </a:lnL>
                    <a:lnR>
                      <a:noFill/>
                    </a:lnR>
                    <a:lnT>
                      <a:noFill/>
                    </a:lnT>
                    <a:lnB>
                      <a:noFill/>
                    </a:lnB>
                    <a:noFill/>
                  </a:tcPr>
                </a:tc>
                <a:tc>
                  <a:txBody>
                    <a:bodyPr/>
                    <a:lstStyle/>
                    <a:p>
                      <a:pPr>
                        <a:buNone/>
                      </a:pPr>
                      <a:endParaRPr lang="en-IN" sz="1400"/>
                    </a:p>
                  </a:txBody>
                  <a:tcPr marL="70183" marR="70183" marT="35091" marB="35091" anchor="ctr">
                    <a:lnL>
                      <a:noFill/>
                    </a:lnL>
                    <a:lnR>
                      <a:noFill/>
                    </a:lnR>
                    <a:lnT>
                      <a:noFill/>
                    </a:lnT>
                    <a:lnB>
                      <a:noFill/>
                    </a:lnB>
                    <a:noFill/>
                  </a:tcPr>
                </a:tc>
                <a:tc>
                  <a:txBody>
                    <a:bodyPr/>
                    <a:lstStyle/>
                    <a:p>
                      <a:pPr>
                        <a:buNone/>
                      </a:pPr>
                      <a:endParaRPr lang="en-IN" sz="1400"/>
                    </a:p>
                  </a:txBody>
                  <a:tcPr marL="70183" marR="70183" marT="35091" marB="35091" anchor="ctr">
                    <a:lnL>
                      <a:noFill/>
                    </a:lnL>
                    <a:lnR>
                      <a:noFill/>
                    </a:lnR>
                    <a:lnT>
                      <a:noFill/>
                    </a:lnT>
                    <a:lnB>
                      <a:noFill/>
                    </a:lnB>
                    <a:noFill/>
                  </a:tcPr>
                </a:tc>
                <a:extLst>
                  <a:ext uri="{0D108BD9-81ED-4DB2-BD59-A6C34878D82A}">
                    <a16:rowId xmlns:a16="http://schemas.microsoft.com/office/drawing/2014/main" val="2075224861"/>
                  </a:ext>
                </a:extLst>
              </a:tr>
              <a:tr h="751240">
                <a:tc>
                  <a:txBody>
                    <a:bodyPr/>
                    <a:lstStyle/>
                    <a:p>
                      <a:pPr>
                        <a:buNone/>
                      </a:pPr>
                      <a:endParaRPr lang="en-IN" sz="1400" dirty="0"/>
                    </a:p>
                  </a:txBody>
                  <a:tcPr marL="70183" marR="70183" marT="35091" marB="35091" anchor="ctr">
                    <a:lnL>
                      <a:noFill/>
                    </a:lnL>
                    <a:lnR>
                      <a:noFill/>
                    </a:lnR>
                    <a:lnT>
                      <a:noFill/>
                    </a:lnT>
                    <a:lnB>
                      <a:noFill/>
                    </a:lnB>
                    <a:noFill/>
                  </a:tcPr>
                </a:tc>
                <a:tc>
                  <a:txBody>
                    <a:bodyPr/>
                    <a:lstStyle/>
                    <a:p>
                      <a:pPr>
                        <a:buNone/>
                      </a:pPr>
                      <a:endParaRPr lang="en-IN" sz="1400"/>
                    </a:p>
                  </a:txBody>
                  <a:tcPr marL="70183" marR="70183" marT="35091" marB="35091" anchor="ctr">
                    <a:lnL>
                      <a:noFill/>
                    </a:lnL>
                    <a:lnR>
                      <a:noFill/>
                    </a:lnR>
                    <a:lnT>
                      <a:noFill/>
                    </a:lnT>
                    <a:lnB>
                      <a:noFill/>
                    </a:lnB>
                    <a:noFill/>
                  </a:tcPr>
                </a:tc>
                <a:tc>
                  <a:txBody>
                    <a:bodyPr/>
                    <a:lstStyle/>
                    <a:p>
                      <a:pPr>
                        <a:buNone/>
                      </a:pPr>
                      <a:endParaRPr lang="en-IN" sz="1400"/>
                    </a:p>
                  </a:txBody>
                  <a:tcPr marL="70183" marR="70183" marT="35091" marB="35091" anchor="ctr">
                    <a:lnL>
                      <a:noFill/>
                    </a:lnL>
                    <a:lnR>
                      <a:noFill/>
                    </a:lnR>
                    <a:lnT>
                      <a:noFill/>
                    </a:lnT>
                    <a:lnB>
                      <a:noFill/>
                    </a:lnB>
                    <a:noFill/>
                  </a:tcPr>
                </a:tc>
                <a:tc>
                  <a:txBody>
                    <a:bodyPr/>
                    <a:lstStyle/>
                    <a:p>
                      <a:pPr>
                        <a:buNone/>
                      </a:pPr>
                      <a:endParaRPr lang="en-IN" sz="1400"/>
                    </a:p>
                  </a:txBody>
                  <a:tcPr marL="70183" marR="70183" marT="35091" marB="35091" anchor="ctr">
                    <a:lnL>
                      <a:noFill/>
                    </a:lnL>
                    <a:lnR>
                      <a:noFill/>
                    </a:lnR>
                    <a:lnT>
                      <a:noFill/>
                    </a:lnT>
                    <a:lnB>
                      <a:noFill/>
                    </a:lnB>
                    <a:noFill/>
                  </a:tcPr>
                </a:tc>
                <a:tc>
                  <a:txBody>
                    <a:bodyPr/>
                    <a:lstStyle/>
                    <a:p>
                      <a:pPr>
                        <a:buNone/>
                      </a:pPr>
                      <a:endParaRPr lang="en-IN" sz="1400"/>
                    </a:p>
                  </a:txBody>
                  <a:tcPr marL="70183" marR="70183" marT="35091" marB="35091" anchor="ctr">
                    <a:lnL>
                      <a:noFill/>
                    </a:lnL>
                    <a:lnR>
                      <a:noFill/>
                    </a:lnR>
                    <a:lnT>
                      <a:noFill/>
                    </a:lnT>
                    <a:lnB>
                      <a:noFill/>
                    </a:lnB>
                    <a:noFill/>
                  </a:tcPr>
                </a:tc>
                <a:tc>
                  <a:txBody>
                    <a:bodyPr/>
                    <a:lstStyle/>
                    <a:p>
                      <a:pPr>
                        <a:buNone/>
                      </a:pPr>
                      <a:endParaRPr lang="en-US" sz="1400"/>
                    </a:p>
                  </a:txBody>
                  <a:tcPr marL="70183" marR="70183" marT="35091" marB="35091" anchor="ctr">
                    <a:lnL>
                      <a:noFill/>
                    </a:lnL>
                    <a:lnR>
                      <a:noFill/>
                    </a:lnR>
                    <a:lnT>
                      <a:noFill/>
                    </a:lnT>
                    <a:lnB>
                      <a:noFill/>
                    </a:lnB>
                    <a:noFill/>
                  </a:tcPr>
                </a:tc>
                <a:extLst>
                  <a:ext uri="{0D108BD9-81ED-4DB2-BD59-A6C34878D82A}">
                    <a16:rowId xmlns:a16="http://schemas.microsoft.com/office/drawing/2014/main" val="1880108660"/>
                  </a:ext>
                </a:extLst>
              </a:tr>
              <a:tr h="976612">
                <a:tc>
                  <a:txBody>
                    <a:bodyPr/>
                    <a:lstStyle/>
                    <a:p>
                      <a:pPr>
                        <a:buNone/>
                      </a:pPr>
                      <a:endParaRPr lang="en-IN" sz="1400"/>
                    </a:p>
                  </a:txBody>
                  <a:tcPr marL="70183" marR="70183" marT="35091" marB="35091" anchor="ctr">
                    <a:lnL>
                      <a:noFill/>
                    </a:lnL>
                    <a:lnR>
                      <a:noFill/>
                    </a:lnR>
                    <a:lnT>
                      <a:noFill/>
                    </a:lnT>
                    <a:lnB>
                      <a:noFill/>
                    </a:lnB>
                    <a:noFill/>
                  </a:tcPr>
                </a:tc>
                <a:tc>
                  <a:txBody>
                    <a:bodyPr/>
                    <a:lstStyle/>
                    <a:p>
                      <a:pPr>
                        <a:buNone/>
                      </a:pPr>
                      <a:endParaRPr lang="en-IN" sz="1400" dirty="0"/>
                    </a:p>
                  </a:txBody>
                  <a:tcPr marL="70183" marR="70183" marT="35091" marB="35091" anchor="ctr">
                    <a:lnL>
                      <a:noFill/>
                    </a:lnL>
                    <a:lnR>
                      <a:noFill/>
                    </a:lnR>
                    <a:lnT>
                      <a:noFill/>
                    </a:lnT>
                    <a:lnB>
                      <a:noFill/>
                    </a:lnB>
                    <a:noFill/>
                  </a:tcPr>
                </a:tc>
                <a:tc>
                  <a:txBody>
                    <a:bodyPr/>
                    <a:lstStyle/>
                    <a:p>
                      <a:pPr>
                        <a:buNone/>
                      </a:pPr>
                      <a:endParaRPr lang="en-IN" sz="1400"/>
                    </a:p>
                  </a:txBody>
                  <a:tcPr marL="70183" marR="70183" marT="35091" marB="35091" anchor="ctr">
                    <a:lnL>
                      <a:noFill/>
                    </a:lnL>
                    <a:lnR>
                      <a:noFill/>
                    </a:lnR>
                    <a:lnT>
                      <a:noFill/>
                    </a:lnT>
                    <a:lnB>
                      <a:noFill/>
                    </a:lnB>
                    <a:noFill/>
                  </a:tcPr>
                </a:tc>
                <a:tc>
                  <a:txBody>
                    <a:bodyPr/>
                    <a:lstStyle/>
                    <a:p>
                      <a:pPr>
                        <a:buNone/>
                      </a:pPr>
                      <a:endParaRPr lang="en-IN" sz="1400" dirty="0"/>
                    </a:p>
                  </a:txBody>
                  <a:tcPr marL="70183" marR="70183" marT="35091" marB="35091" anchor="ctr">
                    <a:lnL>
                      <a:noFill/>
                    </a:lnL>
                    <a:lnR>
                      <a:noFill/>
                    </a:lnR>
                    <a:lnT>
                      <a:noFill/>
                    </a:lnT>
                    <a:lnB>
                      <a:noFill/>
                    </a:lnB>
                    <a:noFill/>
                  </a:tcPr>
                </a:tc>
                <a:tc>
                  <a:txBody>
                    <a:bodyPr/>
                    <a:lstStyle/>
                    <a:p>
                      <a:pPr>
                        <a:buNone/>
                      </a:pPr>
                      <a:endParaRPr lang="en-IN" sz="1400" dirty="0"/>
                    </a:p>
                  </a:txBody>
                  <a:tcPr marL="70183" marR="70183" marT="35091" marB="35091" anchor="ctr">
                    <a:lnL>
                      <a:noFill/>
                    </a:lnL>
                    <a:lnR>
                      <a:noFill/>
                    </a:lnR>
                    <a:lnT>
                      <a:noFill/>
                    </a:lnT>
                    <a:lnB>
                      <a:noFill/>
                    </a:lnB>
                    <a:noFill/>
                  </a:tcPr>
                </a:tc>
                <a:tc>
                  <a:txBody>
                    <a:bodyPr/>
                    <a:lstStyle/>
                    <a:p>
                      <a:pPr>
                        <a:buNone/>
                      </a:pPr>
                      <a:endParaRPr lang="en-US" sz="1400"/>
                    </a:p>
                  </a:txBody>
                  <a:tcPr marL="70183" marR="70183" marT="35091" marB="35091" anchor="ctr">
                    <a:lnL>
                      <a:noFill/>
                    </a:lnL>
                    <a:lnR>
                      <a:noFill/>
                    </a:lnR>
                    <a:lnT>
                      <a:noFill/>
                    </a:lnT>
                    <a:lnB>
                      <a:noFill/>
                    </a:lnB>
                    <a:noFill/>
                  </a:tcPr>
                </a:tc>
                <a:extLst>
                  <a:ext uri="{0D108BD9-81ED-4DB2-BD59-A6C34878D82A}">
                    <a16:rowId xmlns:a16="http://schemas.microsoft.com/office/drawing/2014/main" val="2725959062"/>
                  </a:ext>
                </a:extLst>
              </a:tr>
              <a:tr h="1201984">
                <a:tc>
                  <a:txBody>
                    <a:bodyPr/>
                    <a:lstStyle/>
                    <a:p>
                      <a:pPr>
                        <a:buNone/>
                      </a:pPr>
                      <a:endParaRPr lang="en-IN" sz="1400"/>
                    </a:p>
                  </a:txBody>
                  <a:tcPr marL="70183" marR="70183" marT="35091" marB="35091" anchor="ctr">
                    <a:lnL>
                      <a:noFill/>
                    </a:lnL>
                    <a:lnR>
                      <a:noFill/>
                    </a:lnR>
                    <a:lnT>
                      <a:noFill/>
                    </a:lnT>
                    <a:lnB>
                      <a:noFill/>
                    </a:lnB>
                    <a:noFill/>
                  </a:tcPr>
                </a:tc>
                <a:tc>
                  <a:txBody>
                    <a:bodyPr/>
                    <a:lstStyle/>
                    <a:p>
                      <a:pPr>
                        <a:buNone/>
                      </a:pPr>
                      <a:endParaRPr lang="en-IN" sz="1400"/>
                    </a:p>
                  </a:txBody>
                  <a:tcPr marL="70183" marR="70183" marT="35091" marB="35091" anchor="ctr">
                    <a:lnL>
                      <a:noFill/>
                    </a:lnL>
                    <a:lnR>
                      <a:noFill/>
                    </a:lnR>
                    <a:lnT>
                      <a:noFill/>
                    </a:lnT>
                    <a:lnB>
                      <a:noFill/>
                    </a:lnB>
                    <a:noFill/>
                  </a:tcPr>
                </a:tc>
                <a:tc>
                  <a:txBody>
                    <a:bodyPr/>
                    <a:lstStyle/>
                    <a:p>
                      <a:pPr>
                        <a:buNone/>
                      </a:pPr>
                      <a:endParaRPr lang="en-IN" sz="1400"/>
                    </a:p>
                  </a:txBody>
                  <a:tcPr marL="70183" marR="70183" marT="35091" marB="35091" anchor="ctr">
                    <a:lnL>
                      <a:noFill/>
                    </a:lnL>
                    <a:lnR>
                      <a:noFill/>
                    </a:lnR>
                    <a:lnT>
                      <a:noFill/>
                    </a:lnT>
                    <a:lnB>
                      <a:noFill/>
                    </a:lnB>
                    <a:noFill/>
                  </a:tcPr>
                </a:tc>
                <a:tc>
                  <a:txBody>
                    <a:bodyPr/>
                    <a:lstStyle/>
                    <a:p>
                      <a:pPr>
                        <a:buNone/>
                      </a:pPr>
                      <a:endParaRPr lang="en-IN" sz="1400"/>
                    </a:p>
                  </a:txBody>
                  <a:tcPr marL="70183" marR="70183" marT="35091" marB="35091" anchor="ctr">
                    <a:lnL>
                      <a:noFill/>
                    </a:lnL>
                    <a:lnR>
                      <a:noFill/>
                    </a:lnR>
                    <a:lnT>
                      <a:noFill/>
                    </a:lnT>
                    <a:lnB>
                      <a:noFill/>
                    </a:lnB>
                    <a:noFill/>
                  </a:tcPr>
                </a:tc>
                <a:tc>
                  <a:txBody>
                    <a:bodyPr/>
                    <a:lstStyle/>
                    <a:p>
                      <a:pPr>
                        <a:buNone/>
                      </a:pPr>
                      <a:endParaRPr lang="en-IN" sz="1400" dirty="0"/>
                    </a:p>
                  </a:txBody>
                  <a:tcPr marL="70183" marR="70183" marT="35091" marB="35091" anchor="ctr">
                    <a:lnL>
                      <a:noFill/>
                    </a:lnL>
                    <a:lnR>
                      <a:noFill/>
                    </a:lnR>
                    <a:lnT>
                      <a:noFill/>
                    </a:lnT>
                    <a:lnB>
                      <a:noFill/>
                    </a:lnB>
                    <a:noFill/>
                  </a:tcPr>
                </a:tc>
                <a:tc>
                  <a:txBody>
                    <a:bodyPr/>
                    <a:lstStyle/>
                    <a:p>
                      <a:pPr>
                        <a:buNone/>
                      </a:pPr>
                      <a:endParaRPr lang="en-US" sz="1400"/>
                    </a:p>
                  </a:txBody>
                  <a:tcPr marL="70183" marR="70183" marT="35091" marB="35091" anchor="ctr">
                    <a:lnL>
                      <a:noFill/>
                    </a:lnL>
                    <a:lnR>
                      <a:noFill/>
                    </a:lnR>
                    <a:lnT>
                      <a:noFill/>
                    </a:lnT>
                    <a:lnB>
                      <a:noFill/>
                    </a:lnB>
                    <a:noFill/>
                  </a:tcPr>
                </a:tc>
                <a:extLst>
                  <a:ext uri="{0D108BD9-81ED-4DB2-BD59-A6C34878D82A}">
                    <a16:rowId xmlns:a16="http://schemas.microsoft.com/office/drawing/2014/main" val="1358386050"/>
                  </a:ext>
                </a:extLst>
              </a:tr>
              <a:tr h="1201984">
                <a:tc>
                  <a:txBody>
                    <a:bodyPr/>
                    <a:lstStyle/>
                    <a:p>
                      <a:pPr>
                        <a:buNone/>
                      </a:pPr>
                      <a:endParaRPr lang="en-IN" sz="1400"/>
                    </a:p>
                  </a:txBody>
                  <a:tcPr marL="70183" marR="70183" marT="35091" marB="35091" anchor="ctr">
                    <a:lnL>
                      <a:noFill/>
                    </a:lnL>
                    <a:lnR>
                      <a:noFill/>
                    </a:lnR>
                    <a:lnT>
                      <a:noFill/>
                    </a:lnT>
                    <a:lnB>
                      <a:noFill/>
                    </a:lnB>
                    <a:noFill/>
                  </a:tcPr>
                </a:tc>
                <a:tc>
                  <a:txBody>
                    <a:bodyPr/>
                    <a:lstStyle/>
                    <a:p>
                      <a:pPr>
                        <a:buNone/>
                      </a:pPr>
                      <a:endParaRPr lang="en-IN" sz="1400" dirty="0"/>
                    </a:p>
                  </a:txBody>
                  <a:tcPr marL="70183" marR="70183" marT="35091" marB="35091" anchor="ctr">
                    <a:lnL>
                      <a:noFill/>
                    </a:lnL>
                    <a:lnR>
                      <a:noFill/>
                    </a:lnR>
                    <a:lnT>
                      <a:noFill/>
                    </a:lnT>
                    <a:lnB>
                      <a:noFill/>
                    </a:lnB>
                    <a:noFill/>
                  </a:tcPr>
                </a:tc>
                <a:tc>
                  <a:txBody>
                    <a:bodyPr/>
                    <a:lstStyle/>
                    <a:p>
                      <a:pPr>
                        <a:buNone/>
                      </a:pPr>
                      <a:endParaRPr lang="en-IN" sz="1400"/>
                    </a:p>
                  </a:txBody>
                  <a:tcPr marL="70183" marR="70183" marT="35091" marB="35091" anchor="ctr">
                    <a:lnL>
                      <a:noFill/>
                    </a:lnL>
                    <a:lnR>
                      <a:noFill/>
                    </a:lnR>
                    <a:lnT>
                      <a:noFill/>
                    </a:lnT>
                    <a:lnB>
                      <a:noFill/>
                    </a:lnB>
                    <a:noFill/>
                  </a:tcPr>
                </a:tc>
                <a:tc>
                  <a:txBody>
                    <a:bodyPr/>
                    <a:lstStyle/>
                    <a:p>
                      <a:pPr>
                        <a:buNone/>
                      </a:pPr>
                      <a:endParaRPr lang="en-IN" sz="1400"/>
                    </a:p>
                  </a:txBody>
                  <a:tcPr marL="70183" marR="70183" marT="35091" marB="35091" anchor="ctr">
                    <a:lnL>
                      <a:noFill/>
                    </a:lnL>
                    <a:lnR>
                      <a:noFill/>
                    </a:lnR>
                    <a:lnT>
                      <a:noFill/>
                    </a:lnT>
                    <a:lnB>
                      <a:noFill/>
                    </a:lnB>
                    <a:noFill/>
                  </a:tcPr>
                </a:tc>
                <a:tc>
                  <a:txBody>
                    <a:bodyPr/>
                    <a:lstStyle/>
                    <a:p>
                      <a:pPr>
                        <a:buNone/>
                      </a:pPr>
                      <a:endParaRPr lang="en-IN" sz="1400"/>
                    </a:p>
                  </a:txBody>
                  <a:tcPr marL="70183" marR="70183" marT="35091" marB="35091" anchor="ctr">
                    <a:lnL>
                      <a:noFill/>
                    </a:lnL>
                    <a:lnR>
                      <a:noFill/>
                    </a:lnR>
                    <a:lnT>
                      <a:noFill/>
                    </a:lnT>
                    <a:lnB>
                      <a:noFill/>
                    </a:lnB>
                    <a:noFill/>
                  </a:tcPr>
                </a:tc>
                <a:tc>
                  <a:txBody>
                    <a:bodyPr/>
                    <a:lstStyle/>
                    <a:p>
                      <a:pPr>
                        <a:buNone/>
                      </a:pPr>
                      <a:endParaRPr lang="en-US" sz="1400" dirty="0"/>
                    </a:p>
                  </a:txBody>
                  <a:tcPr marL="70183" marR="70183" marT="35091" marB="35091" anchor="ctr">
                    <a:lnL>
                      <a:noFill/>
                    </a:lnL>
                    <a:lnR>
                      <a:noFill/>
                    </a:lnR>
                    <a:lnT>
                      <a:noFill/>
                    </a:lnT>
                    <a:lnB>
                      <a:noFill/>
                    </a:lnB>
                    <a:noFill/>
                  </a:tcPr>
                </a:tc>
                <a:extLst>
                  <a:ext uri="{0D108BD9-81ED-4DB2-BD59-A6C34878D82A}">
                    <a16:rowId xmlns:a16="http://schemas.microsoft.com/office/drawing/2014/main" val="471768807"/>
                  </a:ext>
                </a:extLst>
              </a:tr>
            </a:tbl>
          </a:graphicData>
        </a:graphic>
      </p:graphicFrame>
      <p:graphicFrame>
        <p:nvGraphicFramePr>
          <p:cNvPr id="10" name="Table 9">
            <a:extLst>
              <a:ext uri="{FF2B5EF4-FFF2-40B4-BE49-F238E27FC236}">
                <a16:creationId xmlns:a16="http://schemas.microsoft.com/office/drawing/2014/main" id="{8AF8CF14-F77E-E92A-1546-527EC00D47EF}"/>
              </a:ext>
            </a:extLst>
          </p:cNvPr>
          <p:cNvGraphicFramePr>
            <a:graphicFrameLocks noGrp="1"/>
          </p:cNvGraphicFramePr>
          <p:nvPr>
            <p:extLst>
              <p:ext uri="{D42A27DB-BD31-4B8C-83A1-F6EECF244321}">
                <p14:modId xmlns:p14="http://schemas.microsoft.com/office/powerpoint/2010/main" val="2896262026"/>
              </p:ext>
            </p:extLst>
          </p:nvPr>
        </p:nvGraphicFramePr>
        <p:xfrm>
          <a:off x="844952" y="1690688"/>
          <a:ext cx="10607285" cy="4776590"/>
        </p:xfrm>
        <a:graphic>
          <a:graphicData uri="http://schemas.openxmlformats.org/drawingml/2006/table">
            <a:tbl>
              <a:tblPr firstRow="1" bandRow="1">
                <a:tableStyleId>{5C22544A-7EE6-4342-B048-85BDC9FD1C3A}</a:tableStyleId>
              </a:tblPr>
              <a:tblGrid>
                <a:gridCol w="1762250">
                  <a:extLst>
                    <a:ext uri="{9D8B030D-6E8A-4147-A177-3AD203B41FA5}">
                      <a16:colId xmlns:a16="http://schemas.microsoft.com/office/drawing/2014/main" val="1348996732"/>
                    </a:ext>
                  </a:extLst>
                </a:gridCol>
                <a:gridCol w="1769007">
                  <a:extLst>
                    <a:ext uri="{9D8B030D-6E8A-4147-A177-3AD203B41FA5}">
                      <a16:colId xmlns:a16="http://schemas.microsoft.com/office/drawing/2014/main" val="1549343038"/>
                    </a:ext>
                  </a:extLst>
                </a:gridCol>
                <a:gridCol w="1769007">
                  <a:extLst>
                    <a:ext uri="{9D8B030D-6E8A-4147-A177-3AD203B41FA5}">
                      <a16:colId xmlns:a16="http://schemas.microsoft.com/office/drawing/2014/main" val="87361170"/>
                    </a:ext>
                  </a:extLst>
                </a:gridCol>
                <a:gridCol w="1769007">
                  <a:extLst>
                    <a:ext uri="{9D8B030D-6E8A-4147-A177-3AD203B41FA5}">
                      <a16:colId xmlns:a16="http://schemas.microsoft.com/office/drawing/2014/main" val="206513624"/>
                    </a:ext>
                  </a:extLst>
                </a:gridCol>
                <a:gridCol w="1769007">
                  <a:extLst>
                    <a:ext uri="{9D8B030D-6E8A-4147-A177-3AD203B41FA5}">
                      <a16:colId xmlns:a16="http://schemas.microsoft.com/office/drawing/2014/main" val="122603616"/>
                    </a:ext>
                  </a:extLst>
                </a:gridCol>
                <a:gridCol w="1769007">
                  <a:extLst>
                    <a:ext uri="{9D8B030D-6E8A-4147-A177-3AD203B41FA5}">
                      <a16:colId xmlns:a16="http://schemas.microsoft.com/office/drawing/2014/main" val="3790998422"/>
                    </a:ext>
                  </a:extLst>
                </a:gridCol>
              </a:tblGrid>
              <a:tr h="932762">
                <a:tc>
                  <a:txBody>
                    <a:bodyPr/>
                    <a:lstStyle/>
                    <a:p>
                      <a:pPr>
                        <a:buNone/>
                      </a:pPr>
                      <a:r>
                        <a:rPr lang="en-IN" sz="1600" b="1" dirty="0">
                          <a:latin typeface="Times New Roman" panose="02020603050405020304" pitchFamily="18" charset="0"/>
                          <a:cs typeface="Times New Roman" panose="02020603050405020304" pitchFamily="18" charset="0"/>
                        </a:rPr>
                        <a:t>Author / Year</a:t>
                      </a:r>
                      <a:endParaRPr lang="en-IN" sz="1600" dirty="0">
                        <a:latin typeface="Times New Roman" panose="02020603050405020304" pitchFamily="18" charset="0"/>
                        <a:cs typeface="Times New Roman" panose="02020603050405020304" pitchFamily="18" charset="0"/>
                      </a:endParaRPr>
                    </a:p>
                  </a:txBody>
                  <a:tcPr marL="70183" marR="70183" marT="35091" marB="35091" anchor="ctr"/>
                </a:tc>
                <a:tc>
                  <a:txBody>
                    <a:bodyPr/>
                    <a:lstStyle/>
                    <a:p>
                      <a:pPr>
                        <a:buNone/>
                      </a:pPr>
                      <a:r>
                        <a:rPr lang="en-IN" sz="1600" b="1" dirty="0">
                          <a:latin typeface="Times New Roman" panose="02020603050405020304" pitchFamily="18" charset="0"/>
                          <a:cs typeface="Times New Roman" panose="02020603050405020304" pitchFamily="18" charset="0"/>
                        </a:rPr>
                        <a:t>Method / Technique</a:t>
                      </a:r>
                      <a:endParaRPr lang="en-IN" sz="1600" dirty="0">
                        <a:latin typeface="Times New Roman" panose="02020603050405020304" pitchFamily="18" charset="0"/>
                        <a:cs typeface="Times New Roman" panose="02020603050405020304" pitchFamily="18" charset="0"/>
                      </a:endParaRPr>
                    </a:p>
                  </a:txBody>
                  <a:tcPr marL="70183" marR="70183" marT="35091" marB="35091" anchor="ctr"/>
                </a:tc>
                <a:tc>
                  <a:txBody>
                    <a:bodyPr/>
                    <a:lstStyle/>
                    <a:p>
                      <a:pPr>
                        <a:buNone/>
                      </a:pPr>
                      <a:r>
                        <a:rPr lang="en-IN" sz="1600" b="1">
                          <a:latin typeface="Times New Roman" panose="02020603050405020304" pitchFamily="18" charset="0"/>
                          <a:cs typeface="Times New Roman" panose="02020603050405020304" pitchFamily="18" charset="0"/>
                        </a:rPr>
                        <a:t>Fruit Type</a:t>
                      </a:r>
                      <a:endParaRPr lang="en-IN" sz="1600">
                        <a:latin typeface="Times New Roman" panose="02020603050405020304" pitchFamily="18" charset="0"/>
                        <a:cs typeface="Times New Roman" panose="02020603050405020304" pitchFamily="18" charset="0"/>
                      </a:endParaRPr>
                    </a:p>
                  </a:txBody>
                  <a:tcPr marL="70183" marR="70183" marT="35091" marB="35091" anchor="ctr"/>
                </a:tc>
                <a:tc>
                  <a:txBody>
                    <a:bodyPr/>
                    <a:lstStyle/>
                    <a:p>
                      <a:pPr>
                        <a:buNone/>
                      </a:pPr>
                      <a:r>
                        <a:rPr lang="en-IN" sz="1600" b="1">
                          <a:latin typeface="Times New Roman" panose="02020603050405020304" pitchFamily="18" charset="0"/>
                          <a:cs typeface="Times New Roman" panose="02020603050405020304" pitchFamily="18" charset="0"/>
                        </a:rPr>
                        <a:t>Key Features Used</a:t>
                      </a:r>
                      <a:endParaRPr lang="en-IN" sz="1600">
                        <a:latin typeface="Times New Roman" panose="02020603050405020304" pitchFamily="18" charset="0"/>
                        <a:cs typeface="Times New Roman" panose="02020603050405020304" pitchFamily="18" charset="0"/>
                      </a:endParaRPr>
                    </a:p>
                  </a:txBody>
                  <a:tcPr marL="70183" marR="70183" marT="35091" marB="35091" anchor="ctr"/>
                </a:tc>
                <a:tc>
                  <a:txBody>
                    <a:bodyPr/>
                    <a:lstStyle/>
                    <a:p>
                      <a:pPr>
                        <a:buNone/>
                      </a:pPr>
                      <a:r>
                        <a:rPr lang="en-IN" sz="1600" b="1">
                          <a:latin typeface="Times New Roman" panose="02020603050405020304" pitchFamily="18" charset="0"/>
                          <a:cs typeface="Times New Roman" panose="02020603050405020304" pitchFamily="18" charset="0"/>
                        </a:rPr>
                        <a:t>Accuracy / Outcome</a:t>
                      </a:r>
                      <a:endParaRPr lang="en-IN" sz="1600">
                        <a:latin typeface="Times New Roman" panose="02020603050405020304" pitchFamily="18" charset="0"/>
                        <a:cs typeface="Times New Roman" panose="02020603050405020304" pitchFamily="18" charset="0"/>
                      </a:endParaRPr>
                    </a:p>
                  </a:txBody>
                  <a:tcPr marL="70183" marR="70183" marT="35091" marB="35091" anchor="ctr"/>
                </a:tc>
                <a:tc>
                  <a:txBody>
                    <a:bodyPr/>
                    <a:lstStyle/>
                    <a:p>
                      <a:pPr>
                        <a:buNone/>
                      </a:pPr>
                      <a:r>
                        <a:rPr lang="en-IN" sz="1600" b="1">
                          <a:latin typeface="Times New Roman" panose="02020603050405020304" pitchFamily="18" charset="0"/>
                          <a:cs typeface="Times New Roman" panose="02020603050405020304" pitchFamily="18" charset="0"/>
                        </a:rPr>
                        <a:t>Remarks</a:t>
                      </a:r>
                      <a:endParaRPr lang="en-IN" sz="1600">
                        <a:latin typeface="Times New Roman" panose="02020603050405020304" pitchFamily="18" charset="0"/>
                        <a:cs typeface="Times New Roman" panose="02020603050405020304" pitchFamily="18" charset="0"/>
                      </a:endParaRPr>
                    </a:p>
                  </a:txBody>
                  <a:tcPr marL="70183" marR="70183" marT="35091" marB="35091" anchor="ctr"/>
                </a:tc>
                <a:extLst>
                  <a:ext uri="{0D108BD9-81ED-4DB2-BD59-A6C34878D82A}">
                    <a16:rowId xmlns:a16="http://schemas.microsoft.com/office/drawing/2014/main" val="224877560"/>
                  </a:ext>
                </a:extLst>
              </a:tr>
              <a:tr h="932762">
                <a:tc>
                  <a:txBody>
                    <a:bodyPr/>
                    <a:lstStyle/>
                    <a:p>
                      <a:pPr>
                        <a:buNone/>
                      </a:pPr>
                      <a:r>
                        <a:rPr lang="en-IN" sz="1600" dirty="0">
                          <a:latin typeface="Times New Roman" panose="02020603050405020304" pitchFamily="18" charset="0"/>
                          <a:cs typeface="Times New Roman" panose="02020603050405020304" pitchFamily="18" charset="0"/>
                        </a:rPr>
                        <a:t>Zhang et al., 2023</a:t>
                      </a:r>
                    </a:p>
                  </a:txBody>
                  <a:tcPr marL="70183" marR="70183" marT="35091" marB="35091" anchor="ctr"/>
                </a:tc>
                <a:tc>
                  <a:txBody>
                    <a:bodyPr/>
                    <a:lstStyle/>
                    <a:p>
                      <a:pPr>
                        <a:buNone/>
                      </a:pPr>
                      <a:r>
                        <a:rPr lang="en-IN" sz="1600">
                          <a:latin typeface="Times New Roman" panose="02020603050405020304" pitchFamily="18" charset="0"/>
                          <a:cs typeface="Times New Roman" panose="02020603050405020304" pitchFamily="18" charset="0"/>
                        </a:rPr>
                        <a:t>Image processing (RGB &amp; HSV analysis)</a:t>
                      </a:r>
                    </a:p>
                  </a:txBody>
                  <a:tcPr marL="70183" marR="70183" marT="35091" marB="35091" anchor="ctr"/>
                </a:tc>
                <a:tc>
                  <a:txBody>
                    <a:bodyPr/>
                    <a:lstStyle/>
                    <a:p>
                      <a:pPr>
                        <a:buNone/>
                      </a:pPr>
                      <a:r>
                        <a:rPr lang="en-IN" sz="1600" dirty="0">
                          <a:latin typeface="Times New Roman" panose="02020603050405020304" pitchFamily="18" charset="0"/>
                          <a:cs typeface="Times New Roman" panose="02020603050405020304" pitchFamily="18" charset="0"/>
                        </a:rPr>
                        <a:t>Apple</a:t>
                      </a:r>
                    </a:p>
                  </a:txBody>
                  <a:tcPr marL="70183" marR="70183" marT="35091" marB="35091" anchor="ctr"/>
                </a:tc>
                <a:tc>
                  <a:txBody>
                    <a:bodyPr/>
                    <a:lstStyle/>
                    <a:p>
                      <a:pPr>
                        <a:buNone/>
                      </a:pPr>
                      <a:r>
                        <a:rPr lang="en-IN" sz="1600">
                          <a:latin typeface="Times New Roman" panose="02020603050405020304" pitchFamily="18" charset="0"/>
                          <a:cs typeface="Times New Roman" panose="02020603050405020304" pitchFamily="18" charset="0"/>
                        </a:rPr>
                        <a:t>Color, Shape</a:t>
                      </a:r>
                    </a:p>
                  </a:txBody>
                  <a:tcPr marL="70183" marR="70183" marT="35091" marB="35091" anchor="ctr"/>
                </a:tc>
                <a:tc>
                  <a:txBody>
                    <a:bodyPr/>
                    <a:lstStyle/>
                    <a:p>
                      <a:pPr>
                        <a:buNone/>
                      </a:pPr>
                      <a:r>
                        <a:rPr lang="en-IN" sz="1600">
                          <a:latin typeface="Times New Roman" panose="02020603050405020304" pitchFamily="18" charset="0"/>
                          <a:cs typeface="Times New Roman" panose="02020603050405020304" pitchFamily="18" charset="0"/>
                        </a:rPr>
                        <a:t>~85%</a:t>
                      </a:r>
                    </a:p>
                  </a:txBody>
                  <a:tcPr marL="70183" marR="70183" marT="35091" marB="35091" anchor="ctr"/>
                </a:tc>
                <a:tc>
                  <a:txBody>
                    <a:bodyPr/>
                    <a:lstStyle/>
                    <a:p>
                      <a:pPr>
                        <a:buNone/>
                      </a:pPr>
                      <a:r>
                        <a:rPr lang="en-US" sz="1600">
                          <a:latin typeface="Times New Roman" panose="02020603050405020304" pitchFamily="18" charset="0"/>
                          <a:cs typeface="Times New Roman" panose="02020603050405020304" pitchFamily="18" charset="0"/>
                        </a:rPr>
                        <a:t>Works well under controlled lighting</a:t>
                      </a:r>
                    </a:p>
                  </a:txBody>
                  <a:tcPr marL="70183" marR="70183" marT="35091" marB="35091" anchor="ctr"/>
                </a:tc>
                <a:extLst>
                  <a:ext uri="{0D108BD9-81ED-4DB2-BD59-A6C34878D82A}">
                    <a16:rowId xmlns:a16="http://schemas.microsoft.com/office/drawing/2014/main" val="1945461975"/>
                  </a:ext>
                </a:extLst>
              </a:tr>
              <a:tr h="932762">
                <a:tc>
                  <a:txBody>
                    <a:bodyPr/>
                    <a:lstStyle/>
                    <a:p>
                      <a:pPr>
                        <a:buNone/>
                      </a:pPr>
                      <a:r>
                        <a:rPr lang="en-IN" sz="1600" dirty="0">
                          <a:latin typeface="Times New Roman" panose="02020603050405020304" pitchFamily="18" charset="0"/>
                          <a:cs typeface="Times New Roman" panose="02020603050405020304" pitchFamily="18" charset="0"/>
                        </a:rPr>
                        <a:t>Rahman et al., 2024</a:t>
                      </a:r>
                    </a:p>
                  </a:txBody>
                  <a:tcPr marL="70183" marR="70183" marT="35091" marB="35091" anchor="ctr"/>
                </a:tc>
                <a:tc>
                  <a:txBody>
                    <a:bodyPr/>
                    <a:lstStyle/>
                    <a:p>
                      <a:pPr>
                        <a:buNone/>
                      </a:pPr>
                      <a:r>
                        <a:rPr lang="en-IN" sz="1600" dirty="0">
                          <a:latin typeface="Times New Roman" panose="02020603050405020304" pitchFamily="18" charset="0"/>
                          <a:cs typeface="Times New Roman" panose="02020603050405020304" pitchFamily="18" charset="0"/>
                        </a:rPr>
                        <a:t>Convolutional Neural Networks (CNN)</a:t>
                      </a:r>
                    </a:p>
                  </a:txBody>
                  <a:tcPr marL="70183" marR="70183" marT="35091" marB="35091" anchor="ctr"/>
                </a:tc>
                <a:tc>
                  <a:txBody>
                    <a:bodyPr/>
                    <a:lstStyle/>
                    <a:p>
                      <a:pPr>
                        <a:buNone/>
                      </a:pPr>
                      <a:r>
                        <a:rPr lang="en-IN" sz="1600">
                          <a:latin typeface="Times New Roman" panose="02020603050405020304" pitchFamily="18" charset="0"/>
                          <a:cs typeface="Times New Roman" panose="02020603050405020304" pitchFamily="18" charset="0"/>
                        </a:rPr>
                        <a:t>Banana</a:t>
                      </a:r>
                    </a:p>
                  </a:txBody>
                  <a:tcPr marL="70183" marR="70183" marT="35091" marB="35091" anchor="ctr"/>
                </a:tc>
                <a:tc>
                  <a:txBody>
                    <a:bodyPr/>
                    <a:lstStyle/>
                    <a:p>
                      <a:pPr>
                        <a:buNone/>
                      </a:pPr>
                      <a:r>
                        <a:rPr lang="en-IN" sz="1600" dirty="0">
                          <a:latin typeface="Times New Roman" panose="02020603050405020304" pitchFamily="18" charset="0"/>
                          <a:cs typeface="Times New Roman" panose="02020603050405020304" pitchFamily="18" charset="0"/>
                        </a:rPr>
                        <a:t>Colour, Texture, Shape</a:t>
                      </a:r>
                    </a:p>
                  </a:txBody>
                  <a:tcPr marL="70183" marR="70183" marT="35091" marB="35091" anchor="ctr"/>
                </a:tc>
                <a:tc>
                  <a:txBody>
                    <a:bodyPr/>
                    <a:lstStyle/>
                    <a:p>
                      <a:pPr>
                        <a:buNone/>
                      </a:pPr>
                      <a:r>
                        <a:rPr lang="en-IN" sz="1600" dirty="0">
                          <a:latin typeface="Times New Roman" panose="02020603050405020304" pitchFamily="18" charset="0"/>
                          <a:cs typeface="Times New Roman" panose="02020603050405020304" pitchFamily="18" charset="0"/>
                        </a:rPr>
                        <a:t>&gt;90%</a:t>
                      </a:r>
                    </a:p>
                  </a:txBody>
                  <a:tcPr marL="70183" marR="70183" marT="35091" marB="35091" anchor="ctr"/>
                </a:tc>
                <a:tc>
                  <a:txBody>
                    <a:bodyPr/>
                    <a:lstStyle/>
                    <a:p>
                      <a:pPr>
                        <a:buNone/>
                      </a:pPr>
                      <a:r>
                        <a:rPr lang="en-US" sz="1600">
                          <a:latin typeface="Times New Roman" panose="02020603050405020304" pitchFamily="18" charset="0"/>
                          <a:cs typeface="Times New Roman" panose="02020603050405020304" pitchFamily="18" charset="0"/>
                        </a:rPr>
                        <a:t>Automated feature extraction, high accuracy</a:t>
                      </a:r>
                    </a:p>
                  </a:txBody>
                  <a:tcPr marL="70183" marR="70183" marT="35091" marB="35091" anchor="ctr"/>
                </a:tc>
                <a:extLst>
                  <a:ext uri="{0D108BD9-81ED-4DB2-BD59-A6C34878D82A}">
                    <a16:rowId xmlns:a16="http://schemas.microsoft.com/office/drawing/2014/main" val="2053059852"/>
                  </a:ext>
                </a:extLst>
              </a:tr>
              <a:tr h="932762">
                <a:tc>
                  <a:txBody>
                    <a:bodyPr/>
                    <a:lstStyle/>
                    <a:p>
                      <a:pPr>
                        <a:buNone/>
                      </a:pPr>
                      <a:r>
                        <a:rPr lang="en-IN" sz="1600" dirty="0">
                          <a:latin typeface="Times New Roman" panose="02020603050405020304" pitchFamily="18" charset="0"/>
                          <a:cs typeface="Times New Roman" panose="02020603050405020304" pitchFamily="18" charset="0"/>
                        </a:rPr>
                        <a:t>Li &amp; Sun, 2025</a:t>
                      </a:r>
                    </a:p>
                  </a:txBody>
                  <a:tcPr marL="70183" marR="70183" marT="35091" marB="35091" anchor="ctr"/>
                </a:tc>
                <a:tc>
                  <a:txBody>
                    <a:bodyPr/>
                    <a:lstStyle/>
                    <a:p>
                      <a:pPr>
                        <a:buNone/>
                      </a:pPr>
                      <a:r>
                        <a:rPr lang="en-IN" sz="1600">
                          <a:latin typeface="Times New Roman" panose="02020603050405020304" pitchFamily="18" charset="0"/>
                          <a:cs typeface="Times New Roman" panose="02020603050405020304" pitchFamily="18" charset="0"/>
                        </a:rPr>
                        <a:t>Support Vector Machine (SVM)</a:t>
                      </a:r>
                    </a:p>
                  </a:txBody>
                  <a:tcPr marL="70183" marR="70183" marT="35091" marB="35091" anchor="ctr"/>
                </a:tc>
                <a:tc>
                  <a:txBody>
                    <a:bodyPr/>
                    <a:lstStyle/>
                    <a:p>
                      <a:pPr>
                        <a:buNone/>
                      </a:pPr>
                      <a:r>
                        <a:rPr lang="en-IN" sz="1600">
                          <a:latin typeface="Times New Roman" panose="02020603050405020304" pitchFamily="18" charset="0"/>
                          <a:cs typeface="Times New Roman" panose="02020603050405020304" pitchFamily="18" charset="0"/>
                        </a:rPr>
                        <a:t>Tomato</a:t>
                      </a:r>
                    </a:p>
                  </a:txBody>
                  <a:tcPr marL="70183" marR="70183" marT="35091" marB="35091" anchor="ctr"/>
                </a:tc>
                <a:tc>
                  <a:txBody>
                    <a:bodyPr/>
                    <a:lstStyle/>
                    <a:p>
                      <a:pPr>
                        <a:buNone/>
                      </a:pPr>
                      <a:r>
                        <a:rPr lang="en-IN" sz="1600">
                          <a:latin typeface="Times New Roman" panose="02020603050405020304" pitchFamily="18" charset="0"/>
                          <a:cs typeface="Times New Roman" panose="02020603050405020304" pitchFamily="18" charset="0"/>
                        </a:rPr>
                        <a:t>Color Histogram, Shape, Texture</a:t>
                      </a:r>
                    </a:p>
                  </a:txBody>
                  <a:tcPr marL="70183" marR="70183" marT="35091" marB="35091" anchor="ctr"/>
                </a:tc>
                <a:tc>
                  <a:txBody>
                    <a:bodyPr/>
                    <a:lstStyle/>
                    <a:p>
                      <a:pPr>
                        <a:buNone/>
                      </a:pPr>
                      <a:r>
                        <a:rPr lang="en-IN" sz="1600" dirty="0">
                          <a:latin typeface="Times New Roman" panose="02020603050405020304" pitchFamily="18" charset="0"/>
                          <a:cs typeface="Times New Roman" panose="02020603050405020304" pitchFamily="18" charset="0"/>
                        </a:rPr>
                        <a:t>87%</a:t>
                      </a:r>
                    </a:p>
                  </a:txBody>
                  <a:tcPr marL="70183" marR="70183" marT="35091" marB="35091" anchor="ctr"/>
                </a:tc>
                <a:tc>
                  <a:txBody>
                    <a:bodyPr/>
                    <a:lstStyle/>
                    <a:p>
                      <a:pPr>
                        <a:buNone/>
                      </a:pPr>
                      <a:r>
                        <a:rPr lang="en-US" sz="1600">
                          <a:latin typeface="Times New Roman" panose="02020603050405020304" pitchFamily="18" charset="0"/>
                          <a:cs typeface="Times New Roman" panose="02020603050405020304" pitchFamily="18" charset="0"/>
                        </a:rPr>
                        <a:t>Needs manual feature extraction, good for small datasets</a:t>
                      </a:r>
                    </a:p>
                  </a:txBody>
                  <a:tcPr marL="70183" marR="70183" marT="35091" marB="35091" anchor="ctr"/>
                </a:tc>
                <a:extLst>
                  <a:ext uri="{0D108BD9-81ED-4DB2-BD59-A6C34878D82A}">
                    <a16:rowId xmlns:a16="http://schemas.microsoft.com/office/drawing/2014/main" val="2585113592"/>
                  </a:ext>
                </a:extLst>
              </a:tr>
              <a:tr h="932762">
                <a:tc>
                  <a:txBody>
                    <a:bodyPr/>
                    <a:lstStyle/>
                    <a:p>
                      <a:pPr>
                        <a:buNone/>
                      </a:pPr>
                      <a:r>
                        <a:rPr lang="en-IN" sz="1600" dirty="0">
                          <a:latin typeface="Times New Roman" panose="02020603050405020304" pitchFamily="18" charset="0"/>
                          <a:cs typeface="Times New Roman" panose="02020603050405020304" pitchFamily="18" charset="0"/>
                        </a:rPr>
                        <a:t>Wu et al., 2024</a:t>
                      </a:r>
                    </a:p>
                  </a:txBody>
                  <a:tcPr marL="70183" marR="70183" marT="35091" marB="35091" anchor="ctr"/>
                </a:tc>
                <a:tc>
                  <a:txBody>
                    <a:bodyPr/>
                    <a:lstStyle/>
                    <a:p>
                      <a:pPr>
                        <a:buNone/>
                      </a:pPr>
                      <a:r>
                        <a:rPr lang="en-IN" sz="1600" dirty="0">
                          <a:latin typeface="Times New Roman" panose="02020603050405020304" pitchFamily="18" charset="0"/>
                          <a:cs typeface="Times New Roman" panose="02020603050405020304" pitchFamily="18" charset="0"/>
                        </a:rPr>
                        <a:t>Hyperspectral Imaging</a:t>
                      </a:r>
                    </a:p>
                  </a:txBody>
                  <a:tcPr marL="70183" marR="70183" marT="35091" marB="35091" anchor="ctr"/>
                </a:tc>
                <a:tc>
                  <a:txBody>
                    <a:bodyPr/>
                    <a:lstStyle/>
                    <a:p>
                      <a:pPr>
                        <a:buNone/>
                      </a:pPr>
                      <a:r>
                        <a:rPr lang="en-IN" sz="1600">
                          <a:latin typeface="Times New Roman" panose="02020603050405020304" pitchFamily="18" charset="0"/>
                          <a:cs typeface="Times New Roman" panose="02020603050405020304" pitchFamily="18" charset="0"/>
                        </a:rPr>
                        <a:t>Strawberry</a:t>
                      </a:r>
                    </a:p>
                  </a:txBody>
                  <a:tcPr marL="70183" marR="70183" marT="35091" marB="35091" anchor="ctr"/>
                </a:tc>
                <a:tc>
                  <a:txBody>
                    <a:bodyPr/>
                    <a:lstStyle/>
                    <a:p>
                      <a:pPr>
                        <a:buNone/>
                      </a:pPr>
                      <a:r>
                        <a:rPr lang="en-IN" sz="1600">
                          <a:latin typeface="Times New Roman" panose="02020603050405020304" pitchFamily="18" charset="0"/>
                          <a:cs typeface="Times New Roman" panose="02020603050405020304" pitchFamily="18" charset="0"/>
                        </a:rPr>
                        <a:t>Spectral Features (Sugar, Firmness)</a:t>
                      </a:r>
                    </a:p>
                  </a:txBody>
                  <a:tcPr marL="70183" marR="70183" marT="35091" marB="35091" anchor="ctr"/>
                </a:tc>
                <a:tc>
                  <a:txBody>
                    <a:bodyPr/>
                    <a:lstStyle/>
                    <a:p>
                      <a:pPr>
                        <a:buNone/>
                      </a:pPr>
                      <a:r>
                        <a:rPr lang="en-IN" sz="1600">
                          <a:latin typeface="Times New Roman" panose="02020603050405020304" pitchFamily="18" charset="0"/>
                          <a:cs typeface="Times New Roman" panose="02020603050405020304" pitchFamily="18" charset="0"/>
                        </a:rPr>
                        <a:t>95%</a:t>
                      </a:r>
                    </a:p>
                  </a:txBody>
                  <a:tcPr marL="70183" marR="70183" marT="35091" marB="35091" anchor="ctr"/>
                </a:tc>
                <a:tc>
                  <a:txBody>
                    <a:bodyPr/>
                    <a:lstStyle/>
                    <a:p>
                      <a:pPr>
                        <a:buNone/>
                      </a:pPr>
                      <a:r>
                        <a:rPr lang="en-US" sz="1600" dirty="0">
                          <a:latin typeface="Times New Roman" panose="02020603050405020304" pitchFamily="18" charset="0"/>
                          <a:cs typeface="Times New Roman" panose="02020603050405020304" pitchFamily="18" charset="0"/>
                        </a:rPr>
                        <a:t>Very high accuracy, but requires expensive hardware</a:t>
                      </a:r>
                    </a:p>
                  </a:txBody>
                  <a:tcPr marL="70183" marR="70183" marT="35091" marB="35091" anchor="ctr"/>
                </a:tc>
                <a:extLst>
                  <a:ext uri="{0D108BD9-81ED-4DB2-BD59-A6C34878D82A}">
                    <a16:rowId xmlns:a16="http://schemas.microsoft.com/office/drawing/2014/main" val="2937381241"/>
                  </a:ext>
                </a:extLst>
              </a:tr>
            </a:tbl>
          </a:graphicData>
        </a:graphic>
      </p:graphicFrame>
      <p:pic>
        <p:nvPicPr>
          <p:cNvPr id="11" name="Google Shape;2123878948;p1">
            <a:extLst>
              <a:ext uri="{FF2B5EF4-FFF2-40B4-BE49-F238E27FC236}">
                <a16:creationId xmlns:a16="http://schemas.microsoft.com/office/drawing/2014/main" id="{EDF44E04-07D0-C29A-4748-FC80591F3ECC}"/>
              </a:ext>
            </a:extLst>
          </p:cNvPr>
          <p:cNvPicPr preferRelativeResize="0"/>
          <p:nvPr/>
        </p:nvPicPr>
        <p:blipFill rotWithShape="1">
          <a:blip r:embed="rId2">
            <a:alphaModFix/>
          </a:blip>
          <a:srcRect/>
          <a:stretch/>
        </p:blipFill>
        <p:spPr>
          <a:xfrm>
            <a:off x="357352" y="191626"/>
            <a:ext cx="1135117" cy="1342883"/>
          </a:xfrm>
          <a:prstGeom prst="rect">
            <a:avLst/>
          </a:prstGeom>
          <a:noFill/>
          <a:ln>
            <a:noFill/>
          </a:ln>
        </p:spPr>
      </p:pic>
      <p:pic>
        <p:nvPicPr>
          <p:cNvPr id="12" name="Google Shape;2123878949;p1">
            <a:extLst>
              <a:ext uri="{FF2B5EF4-FFF2-40B4-BE49-F238E27FC236}">
                <a16:creationId xmlns:a16="http://schemas.microsoft.com/office/drawing/2014/main" id="{800B570B-2E71-D627-76B6-ECA0FF046F4F}"/>
              </a:ext>
            </a:extLst>
          </p:cNvPr>
          <p:cNvPicPr preferRelativeResize="0"/>
          <p:nvPr/>
        </p:nvPicPr>
        <p:blipFill rotWithShape="1">
          <a:blip r:embed="rId3">
            <a:alphaModFix/>
          </a:blip>
          <a:srcRect/>
          <a:stretch/>
        </p:blipFill>
        <p:spPr>
          <a:xfrm>
            <a:off x="10514231" y="191626"/>
            <a:ext cx="1520114" cy="1342883"/>
          </a:xfrm>
          <a:prstGeom prst="rect">
            <a:avLst/>
          </a:prstGeom>
          <a:noFill/>
          <a:ln>
            <a:noFill/>
          </a:ln>
        </p:spPr>
      </p:pic>
    </p:spTree>
    <p:extLst>
      <p:ext uri="{BB962C8B-B14F-4D97-AF65-F5344CB8AC3E}">
        <p14:creationId xmlns:p14="http://schemas.microsoft.com/office/powerpoint/2010/main" val="28446745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5335" y="464518"/>
            <a:ext cx="9676031" cy="1069991"/>
          </a:xfrm>
        </p:spPr>
        <p:txBody>
          <a:bodyPr>
            <a:normAutofit fontScale="90000"/>
          </a:bodyPr>
          <a:lstStyle/>
          <a:p>
            <a:pPr algn="ctr"/>
            <a:r>
              <a:rPr lang="en-US" sz="3600" b="1" dirty="0">
                <a:latin typeface="Times New Roman" panose="02020603050405020304" pitchFamily="18" charset="0"/>
                <a:cs typeface="Times New Roman" panose="02020603050405020304" pitchFamily="18" charset="0"/>
              </a:rPr>
              <a:t>MODULE 1-</a:t>
            </a:r>
            <a:r>
              <a:rPr lang="en-US" b="1" dirty="0">
                <a:latin typeface="Times New Roman" panose="02020603050405020304" pitchFamily="18" charset="0"/>
                <a:cs typeface="Times New Roman" panose="02020603050405020304" pitchFamily="18" charset="0"/>
              </a:rPr>
              <a:t>Fruit Image Preprocessing and Region Segmentation</a:t>
            </a:r>
            <a:br>
              <a:rPr lang="en-IN" b="1" dirty="0"/>
            </a:br>
            <a:endParaRPr lang="en-US" sz="3600" dirty="0">
              <a:latin typeface="Times New Roman" panose="02020603050405020304" pitchFamily="18" charset="0"/>
              <a:cs typeface="Times New Roman" panose="02020603050405020304" pitchFamily="18" charset="0"/>
            </a:endParaRPr>
          </a:p>
        </p:txBody>
      </p:sp>
      <p:pic>
        <p:nvPicPr>
          <p:cNvPr id="4" name="Google Shape;2123878948;p1">
            <a:extLst>
              <a:ext uri="{FF2B5EF4-FFF2-40B4-BE49-F238E27FC236}">
                <a16:creationId xmlns:a16="http://schemas.microsoft.com/office/drawing/2014/main" id="{C87712E9-0347-BFF5-158C-B49D168455E4}"/>
              </a:ext>
            </a:extLst>
          </p:cNvPr>
          <p:cNvPicPr preferRelativeResize="0"/>
          <p:nvPr/>
        </p:nvPicPr>
        <p:blipFill rotWithShape="1">
          <a:blip r:embed="rId2">
            <a:alphaModFix/>
          </a:blip>
          <a:srcRect/>
          <a:stretch/>
        </p:blipFill>
        <p:spPr>
          <a:xfrm>
            <a:off x="357352" y="191626"/>
            <a:ext cx="1135117" cy="1342883"/>
          </a:xfrm>
          <a:prstGeom prst="rect">
            <a:avLst/>
          </a:prstGeom>
          <a:noFill/>
          <a:ln>
            <a:noFill/>
          </a:ln>
        </p:spPr>
      </p:pic>
      <p:pic>
        <p:nvPicPr>
          <p:cNvPr id="5" name="Google Shape;2123878949;p1">
            <a:extLst>
              <a:ext uri="{FF2B5EF4-FFF2-40B4-BE49-F238E27FC236}">
                <a16:creationId xmlns:a16="http://schemas.microsoft.com/office/drawing/2014/main" id="{B5EDCD78-5FCE-4C05-9AD0-5DC5CE08251B}"/>
              </a:ext>
            </a:extLst>
          </p:cNvPr>
          <p:cNvPicPr preferRelativeResize="0"/>
          <p:nvPr/>
        </p:nvPicPr>
        <p:blipFill rotWithShape="1">
          <a:blip r:embed="rId3">
            <a:alphaModFix/>
          </a:blip>
          <a:srcRect/>
          <a:stretch/>
        </p:blipFill>
        <p:spPr>
          <a:xfrm>
            <a:off x="10514231" y="191626"/>
            <a:ext cx="1520114" cy="1342883"/>
          </a:xfrm>
          <a:prstGeom prst="rect">
            <a:avLst/>
          </a:prstGeom>
          <a:noFill/>
          <a:ln>
            <a:noFill/>
          </a:ln>
        </p:spPr>
      </p:pic>
      <p:sp>
        <p:nvSpPr>
          <p:cNvPr id="7" name="Rectangle 1">
            <a:extLst>
              <a:ext uri="{FF2B5EF4-FFF2-40B4-BE49-F238E27FC236}">
                <a16:creationId xmlns:a16="http://schemas.microsoft.com/office/drawing/2014/main" id="{E9B3B47B-FB93-7B3A-A198-89D83AC1CA52}"/>
              </a:ext>
            </a:extLst>
          </p:cNvPr>
          <p:cNvSpPr>
            <a:spLocks noGrp="1" noChangeArrowheads="1"/>
          </p:cNvSpPr>
          <p:nvPr>
            <p:ph idx="1"/>
          </p:nvPr>
        </p:nvSpPr>
        <p:spPr bwMode="auto">
          <a:xfrm>
            <a:off x="594360" y="1999026"/>
            <a:ext cx="6091575" cy="3707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lnSpc>
                <a:spcPct val="150000"/>
              </a:lnSpc>
              <a:spcBef>
                <a:spcPct val="0"/>
              </a:spcBef>
              <a:spcAft>
                <a:spcPct val="0"/>
              </a:spcAft>
              <a:buFont typeface="Wingdings" panose="05000000000000000000" pitchFamily="2" charset="2"/>
              <a:buChar char="Ø"/>
            </a:pPr>
            <a:r>
              <a:rPr lang="en-US" sz="2000" dirty="0"/>
              <a:t>Capture fruit images using camera or dataset.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lgn="just" eaLnBrk="0" fontAlgn="base" hangingPunct="0">
              <a:lnSpc>
                <a:spcPct val="150000"/>
              </a:lnSpc>
              <a:spcBef>
                <a:spcPct val="0"/>
              </a:spcBef>
              <a:spcAft>
                <a:spcPct val="0"/>
              </a:spcAft>
              <a:buFont typeface="Wingdings" panose="05000000000000000000" pitchFamily="2" charset="2"/>
              <a:buChar char="Ø"/>
            </a:pPr>
            <a:r>
              <a:rPr lang="en-US" sz="2000" dirty="0"/>
              <a:t>Resize and normalize images to a standard size.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lgn="just" eaLnBrk="0" fontAlgn="base" hangingPunct="0">
              <a:lnSpc>
                <a:spcPct val="150000"/>
              </a:lnSpc>
              <a:spcBef>
                <a:spcPct val="0"/>
              </a:spcBef>
              <a:spcAft>
                <a:spcPct val="0"/>
              </a:spcAft>
              <a:buFont typeface="Wingdings" panose="05000000000000000000" pitchFamily="2" charset="2"/>
              <a:buChar char="Ø"/>
            </a:pPr>
            <a:r>
              <a:rPr lang="en-US" sz="2000" dirty="0"/>
              <a:t>Remove noise using filtering techniques.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lgn="just" eaLnBrk="0" fontAlgn="base" hangingPunct="0">
              <a:lnSpc>
                <a:spcPct val="150000"/>
              </a:lnSpc>
              <a:spcBef>
                <a:spcPct val="0"/>
              </a:spcBef>
              <a:spcAft>
                <a:spcPct val="0"/>
              </a:spcAft>
              <a:buFont typeface="Wingdings" panose="05000000000000000000" pitchFamily="2" charset="2"/>
              <a:buChar char="Ø"/>
            </a:pPr>
            <a:r>
              <a:rPr lang="en-US" sz="2000" dirty="0"/>
              <a:t>Enhance image quality through contrast and brightness adjustment.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lgn="just" eaLnBrk="0" fontAlgn="base" hangingPunct="0">
              <a:lnSpc>
                <a:spcPct val="150000"/>
              </a:lnSpc>
              <a:spcBef>
                <a:spcPct val="0"/>
              </a:spcBef>
              <a:spcAft>
                <a:spcPct val="0"/>
              </a:spcAft>
              <a:buFont typeface="Wingdings" panose="05000000000000000000" pitchFamily="2" charset="2"/>
              <a:buChar char="Ø"/>
            </a:pPr>
            <a:r>
              <a:rPr lang="en-US" sz="2000" dirty="0"/>
              <a:t>Extract the Region of Interest (ROI) for further analysis.</a:t>
            </a:r>
          </a:p>
          <a:p>
            <a:pPr lvl="0" algn="just" eaLnBrk="0" fontAlgn="base" hangingPunct="0">
              <a:lnSpc>
                <a:spcPct val="150000"/>
              </a:lnSpc>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Segment the fruit from the background using thresholding or clustering</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7E77C882-B1A4-6291-A35C-3F0682B9BDEF}"/>
              </a:ext>
            </a:extLst>
          </p:cNvPr>
          <p:cNvPicPr>
            <a:picLocks noChangeAspect="1"/>
          </p:cNvPicPr>
          <p:nvPr/>
        </p:nvPicPr>
        <p:blipFill>
          <a:blip r:embed="rId4">
            <a:extLst>
              <a:ext uri="{28A0092B-C50C-407E-A947-70E740481C1C}">
                <a14:useLocalDpi xmlns:a14="http://schemas.microsoft.com/office/drawing/2010/main" val="0"/>
              </a:ext>
            </a:extLst>
          </a:blip>
          <a:srcRect t="15659"/>
          <a:stretch>
            <a:fillRect/>
          </a:stretch>
        </p:blipFill>
        <p:spPr>
          <a:xfrm>
            <a:off x="6868653" y="1807401"/>
            <a:ext cx="5165692" cy="4380754"/>
          </a:xfrm>
          <a:prstGeom prst="rect">
            <a:avLst/>
          </a:prstGeom>
        </p:spPr>
      </p:pic>
      <p:sp>
        <p:nvSpPr>
          <p:cNvPr id="6" name="Rectangle 2">
            <a:extLst>
              <a:ext uri="{FF2B5EF4-FFF2-40B4-BE49-F238E27FC236}">
                <a16:creationId xmlns:a16="http://schemas.microsoft.com/office/drawing/2014/main" id="{DF10E32F-03CF-C1F2-742F-F7970B046991}"/>
              </a:ext>
            </a:extLst>
          </p:cNvPr>
          <p:cNvSpPr>
            <a:spLocks noChangeArrowheads="1"/>
          </p:cNvSpPr>
          <p:nvPr/>
        </p:nvSpPr>
        <p:spPr bwMode="auto">
          <a:xfrm>
            <a:off x="152400" y="-1707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4">
            <a:extLst>
              <a:ext uri="{FF2B5EF4-FFF2-40B4-BE49-F238E27FC236}">
                <a16:creationId xmlns:a16="http://schemas.microsoft.com/office/drawing/2014/main" id="{1154574F-C682-0D0C-5604-D61FDEFBBFA2}"/>
              </a:ext>
            </a:extLst>
          </p:cNvPr>
          <p:cNvSpPr>
            <a:spLocks noChangeArrowheads="1"/>
          </p:cNvSpPr>
          <p:nvPr/>
        </p:nvSpPr>
        <p:spPr bwMode="auto">
          <a:xfrm>
            <a:off x="0" y="-3231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2600" y="795866"/>
            <a:ext cx="10515600" cy="994229"/>
          </a:xfrm>
        </p:spPr>
        <p:txBody>
          <a:bodyPr>
            <a:normAutofit fontScale="90000"/>
          </a:bodyPr>
          <a:lstStyle/>
          <a:p>
            <a:pPr algn="ctr"/>
            <a:r>
              <a:rPr lang="en-IN" sz="3600" b="1" dirty="0">
                <a:latin typeface="Times New Roman" panose="02020603050405020304" pitchFamily="18" charset="0"/>
                <a:cs typeface="Times New Roman" panose="02020603050405020304" pitchFamily="18" charset="0"/>
              </a:rPr>
              <a:t>   MODULE 2 - </a:t>
            </a:r>
            <a:r>
              <a:rPr lang="en-IN" b="1" dirty="0"/>
              <a:t> </a:t>
            </a:r>
            <a:r>
              <a:rPr lang="en-US" sz="4000" b="1" dirty="0">
                <a:latin typeface="Times New Roman" panose="02020603050405020304" pitchFamily="18" charset="0"/>
                <a:cs typeface="Times New Roman" panose="02020603050405020304" pitchFamily="18" charset="0"/>
              </a:rPr>
              <a:t>Ripeness Detection and Quality Classification</a:t>
            </a:r>
            <a:br>
              <a:rPr lang="en-IN" sz="4000" b="1" dirty="0"/>
            </a:br>
            <a:endParaRPr lang="en-US" sz="4000" b="1" dirty="0">
              <a:latin typeface="Times New Roman" panose="02020603050405020304" pitchFamily="18" charset="0"/>
              <a:cs typeface="Times New Roman" panose="02020603050405020304" pitchFamily="18" charset="0"/>
            </a:endParaRPr>
          </a:p>
        </p:txBody>
      </p:sp>
      <p:pic>
        <p:nvPicPr>
          <p:cNvPr id="3" name="Google Shape;2123878948;p1">
            <a:extLst>
              <a:ext uri="{FF2B5EF4-FFF2-40B4-BE49-F238E27FC236}">
                <a16:creationId xmlns:a16="http://schemas.microsoft.com/office/drawing/2014/main" id="{7858684C-C000-4C24-3076-CC87654582D2}"/>
              </a:ext>
            </a:extLst>
          </p:cNvPr>
          <p:cNvPicPr preferRelativeResize="0"/>
          <p:nvPr/>
        </p:nvPicPr>
        <p:blipFill rotWithShape="1">
          <a:blip r:embed="rId2">
            <a:alphaModFix/>
          </a:blip>
          <a:srcRect/>
          <a:stretch/>
        </p:blipFill>
        <p:spPr>
          <a:xfrm>
            <a:off x="357352" y="191626"/>
            <a:ext cx="1135117" cy="1342883"/>
          </a:xfrm>
          <a:prstGeom prst="rect">
            <a:avLst/>
          </a:prstGeom>
          <a:noFill/>
          <a:ln>
            <a:noFill/>
          </a:ln>
        </p:spPr>
      </p:pic>
      <p:pic>
        <p:nvPicPr>
          <p:cNvPr id="4" name="Google Shape;2123878949;p1">
            <a:extLst>
              <a:ext uri="{FF2B5EF4-FFF2-40B4-BE49-F238E27FC236}">
                <a16:creationId xmlns:a16="http://schemas.microsoft.com/office/drawing/2014/main" id="{4457FE66-6F5D-EDE7-EA52-DE676C8E35C5}"/>
              </a:ext>
            </a:extLst>
          </p:cNvPr>
          <p:cNvPicPr preferRelativeResize="0"/>
          <p:nvPr/>
        </p:nvPicPr>
        <p:blipFill rotWithShape="1">
          <a:blip r:embed="rId3">
            <a:alphaModFix/>
          </a:blip>
          <a:srcRect/>
          <a:stretch/>
        </p:blipFill>
        <p:spPr>
          <a:xfrm>
            <a:off x="10514231" y="191626"/>
            <a:ext cx="1520114" cy="1342883"/>
          </a:xfrm>
          <a:prstGeom prst="rect">
            <a:avLst/>
          </a:prstGeom>
          <a:noFill/>
          <a:ln>
            <a:noFill/>
          </a:ln>
        </p:spPr>
      </p:pic>
      <p:sp>
        <p:nvSpPr>
          <p:cNvPr id="6" name="AutoShape 2" descr="Generated imag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1">
            <a:extLst>
              <a:ext uri="{FF2B5EF4-FFF2-40B4-BE49-F238E27FC236}">
                <a16:creationId xmlns:a16="http://schemas.microsoft.com/office/drawing/2014/main" id="{96E17C96-079C-AAFC-42EB-1D7159120698}"/>
              </a:ext>
            </a:extLst>
          </p:cNvPr>
          <p:cNvSpPr>
            <a:spLocks noGrp="1" noChangeArrowheads="1"/>
          </p:cNvSpPr>
          <p:nvPr>
            <p:ph idx="1"/>
          </p:nvPr>
        </p:nvSpPr>
        <p:spPr bwMode="auto">
          <a:xfrm>
            <a:off x="924910" y="1534509"/>
            <a:ext cx="6107573" cy="4653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Extract HSV color intensity features to identify ripeness changes.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Calculate texture features (entropy, contrast, GLCM metrics) for defect evaluation.</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Train KNN/SVM classifiers for multi-stage ripeness and quality grading.</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Apply threshold-based rules for simple color/defect-based classification.</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Assess classification using accuracy, confusion matrix, and feature visualization.</a:t>
            </a:r>
          </a:p>
        </p:txBody>
      </p:sp>
      <p:pic>
        <p:nvPicPr>
          <p:cNvPr id="10" name="Picture 9">
            <a:extLst>
              <a:ext uri="{FF2B5EF4-FFF2-40B4-BE49-F238E27FC236}">
                <a16:creationId xmlns:a16="http://schemas.microsoft.com/office/drawing/2014/main" id="{120A33A4-9896-CAD1-3FA7-B5053F38005B}"/>
              </a:ext>
            </a:extLst>
          </p:cNvPr>
          <p:cNvPicPr>
            <a:picLocks noChangeAspect="1"/>
          </p:cNvPicPr>
          <p:nvPr/>
        </p:nvPicPr>
        <p:blipFill>
          <a:blip r:embed="rId4">
            <a:extLst>
              <a:ext uri="{28A0092B-C50C-407E-A947-70E740481C1C}">
                <a14:useLocalDpi xmlns:a14="http://schemas.microsoft.com/office/drawing/2010/main" val="0"/>
              </a:ext>
            </a:extLst>
          </a:blip>
          <a:srcRect t="10127"/>
          <a:stretch>
            <a:fillRect/>
          </a:stretch>
        </p:blipFill>
        <p:spPr>
          <a:xfrm>
            <a:off x="7032483" y="1790095"/>
            <a:ext cx="4910251" cy="43980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1A686-DC86-89F4-3320-73ECBA775DD7}"/>
              </a:ext>
            </a:extLst>
          </p:cNvPr>
          <p:cNvSpPr>
            <a:spLocks noGrp="1"/>
          </p:cNvSpPr>
          <p:nvPr>
            <p:ph type="title"/>
          </p:nvPr>
        </p:nvSpPr>
        <p:spPr>
          <a:xfrm>
            <a:off x="838200" y="129611"/>
            <a:ext cx="10515600" cy="1325563"/>
          </a:xfrm>
        </p:spPr>
        <p:txBody>
          <a:bodyPr/>
          <a:lstStyle/>
          <a:p>
            <a:pPr algn="ctr"/>
            <a:r>
              <a:rPr lang="en-IN" b="1" dirty="0">
                <a:latin typeface="Times New Roman" panose="02020603050405020304" pitchFamily="18" charset="0"/>
                <a:cs typeface="Times New Roman" panose="02020603050405020304" pitchFamily="18" charset="0"/>
              </a:rPr>
              <a:t>RESULTS AND DISCUSSION</a:t>
            </a:r>
          </a:p>
        </p:txBody>
      </p:sp>
      <p:pic>
        <p:nvPicPr>
          <p:cNvPr id="7" name="Content Placeholder 6">
            <a:extLst>
              <a:ext uri="{FF2B5EF4-FFF2-40B4-BE49-F238E27FC236}">
                <a16:creationId xmlns:a16="http://schemas.microsoft.com/office/drawing/2014/main" id="{0042F4C3-9F2C-FF49-85F8-33B94FC3A05B}"/>
              </a:ext>
            </a:extLst>
          </p:cNvPr>
          <p:cNvPicPr>
            <a:picLocks noGrp="1" noChangeAspect="1"/>
          </p:cNvPicPr>
          <p:nvPr>
            <p:ph idx="1"/>
          </p:nvPr>
        </p:nvPicPr>
        <p:blipFill>
          <a:blip r:embed="rId2"/>
          <a:stretch>
            <a:fillRect/>
          </a:stretch>
        </p:blipFill>
        <p:spPr>
          <a:xfrm>
            <a:off x="7588469" y="1713840"/>
            <a:ext cx="4445876" cy="3939709"/>
          </a:xfrm>
          <a:prstGeom prst="rect">
            <a:avLst/>
          </a:prstGeom>
        </p:spPr>
      </p:pic>
      <p:pic>
        <p:nvPicPr>
          <p:cNvPr id="4" name="Google Shape;2123878948;p1">
            <a:extLst>
              <a:ext uri="{FF2B5EF4-FFF2-40B4-BE49-F238E27FC236}">
                <a16:creationId xmlns:a16="http://schemas.microsoft.com/office/drawing/2014/main" id="{769B0C86-C6BC-6033-352F-8B8049436A2F}"/>
              </a:ext>
            </a:extLst>
          </p:cNvPr>
          <p:cNvPicPr preferRelativeResize="0"/>
          <p:nvPr/>
        </p:nvPicPr>
        <p:blipFill rotWithShape="1">
          <a:blip r:embed="rId3">
            <a:alphaModFix/>
          </a:blip>
          <a:srcRect/>
          <a:stretch/>
        </p:blipFill>
        <p:spPr>
          <a:xfrm>
            <a:off x="357352" y="191626"/>
            <a:ext cx="1135117" cy="1342883"/>
          </a:xfrm>
          <a:prstGeom prst="rect">
            <a:avLst/>
          </a:prstGeom>
          <a:noFill/>
          <a:ln>
            <a:noFill/>
          </a:ln>
        </p:spPr>
      </p:pic>
      <p:pic>
        <p:nvPicPr>
          <p:cNvPr id="5" name="Google Shape;2123878949;p1">
            <a:extLst>
              <a:ext uri="{FF2B5EF4-FFF2-40B4-BE49-F238E27FC236}">
                <a16:creationId xmlns:a16="http://schemas.microsoft.com/office/drawing/2014/main" id="{5D5F0510-B38E-6945-77E6-4978B0FD9927}"/>
              </a:ext>
            </a:extLst>
          </p:cNvPr>
          <p:cNvPicPr preferRelativeResize="0"/>
          <p:nvPr/>
        </p:nvPicPr>
        <p:blipFill rotWithShape="1">
          <a:blip r:embed="rId4">
            <a:alphaModFix/>
          </a:blip>
          <a:srcRect/>
          <a:stretch/>
        </p:blipFill>
        <p:spPr>
          <a:xfrm>
            <a:off x="10514231" y="191626"/>
            <a:ext cx="1520114" cy="1342883"/>
          </a:xfrm>
          <a:prstGeom prst="rect">
            <a:avLst/>
          </a:prstGeom>
          <a:noFill/>
          <a:ln>
            <a:noFill/>
          </a:ln>
        </p:spPr>
      </p:pic>
      <p:sp>
        <p:nvSpPr>
          <p:cNvPr id="9" name="TextBox 8">
            <a:extLst>
              <a:ext uri="{FF2B5EF4-FFF2-40B4-BE49-F238E27FC236}">
                <a16:creationId xmlns:a16="http://schemas.microsoft.com/office/drawing/2014/main" id="{39534731-B3BA-1FEC-BF10-D4106D555C85}"/>
              </a:ext>
            </a:extLst>
          </p:cNvPr>
          <p:cNvSpPr txBox="1"/>
          <p:nvPr/>
        </p:nvSpPr>
        <p:spPr>
          <a:xfrm>
            <a:off x="1278194" y="1455174"/>
            <a:ext cx="6310275" cy="5115311"/>
          </a:xfrm>
          <a:prstGeom prst="rect">
            <a:avLst/>
          </a:prstGeom>
          <a:noFill/>
        </p:spPr>
        <p:txBody>
          <a:bodyPr wrap="square">
            <a:spAutoFit/>
          </a:bodyPr>
          <a:lstStyle/>
          <a:p>
            <a:pPr algn="just">
              <a:lnSpc>
                <a:spcPct val="150000"/>
              </a:lnSpc>
              <a:buFont typeface="+mj-lt"/>
              <a:buAutoNum type="arabicPeriod"/>
            </a:pPr>
            <a:r>
              <a:rPr lang="en-US" sz="2000" b="1" i="0" dirty="0">
                <a:solidFill>
                  <a:srgbClr val="0D0D0D"/>
                </a:solidFill>
                <a:effectLst/>
                <a:latin typeface="Times New Roman" panose="02020603050405020304" pitchFamily="18" charset="0"/>
                <a:cs typeface="Times New Roman" panose="02020603050405020304" pitchFamily="18" charset="0"/>
              </a:rPr>
              <a:t>High Ripeness Classification Accuracy</a:t>
            </a:r>
            <a:r>
              <a:rPr lang="en-US" sz="2000" b="0" i="0" dirty="0">
                <a:solidFill>
                  <a:srgbClr val="0D0D0D"/>
                </a:solidFill>
                <a:effectLst/>
                <a:latin typeface="Times New Roman" panose="02020603050405020304" pitchFamily="18" charset="0"/>
                <a:cs typeface="Times New Roman" panose="02020603050405020304" pitchFamily="18" charset="0"/>
              </a:rPr>
              <a:t> – The system successfully identified unripe, ripe, and overripe fruit.</a:t>
            </a:r>
          </a:p>
          <a:p>
            <a:pPr algn="just">
              <a:lnSpc>
                <a:spcPct val="150000"/>
              </a:lnSpc>
              <a:buFont typeface="+mj-lt"/>
              <a:buAutoNum type="arabicPeriod"/>
            </a:pPr>
            <a:r>
              <a:rPr lang="en-US" sz="2000" b="0" i="0" dirty="0">
                <a:solidFill>
                  <a:srgbClr val="0D0D0D"/>
                </a:solidFill>
                <a:effectLst/>
                <a:latin typeface="Times New Roman" panose="02020603050405020304" pitchFamily="18" charset="0"/>
                <a:cs typeface="Times New Roman" panose="02020603050405020304" pitchFamily="18" charset="0"/>
              </a:rPr>
              <a:t> </a:t>
            </a:r>
            <a:r>
              <a:rPr lang="en-US" sz="2000" b="1" i="0" dirty="0">
                <a:solidFill>
                  <a:srgbClr val="0D0D0D"/>
                </a:solidFill>
                <a:effectLst/>
                <a:latin typeface="Times New Roman" panose="02020603050405020304" pitchFamily="18" charset="0"/>
                <a:cs typeface="Times New Roman" panose="02020603050405020304" pitchFamily="18" charset="0"/>
              </a:rPr>
              <a:t>Effective Quality Grading</a:t>
            </a:r>
            <a:r>
              <a:rPr lang="en-US" sz="2000" b="0" i="0" dirty="0">
                <a:solidFill>
                  <a:srgbClr val="0D0D0D"/>
                </a:solidFill>
                <a:effectLst/>
                <a:latin typeface="Times New Roman" panose="02020603050405020304" pitchFamily="18" charset="0"/>
                <a:cs typeface="Times New Roman" panose="02020603050405020304" pitchFamily="18" charset="0"/>
              </a:rPr>
              <a:t> – Fruits were automatically categorized into Grade A, B, and C based on size, shape, and surface defects.</a:t>
            </a:r>
          </a:p>
          <a:p>
            <a:pPr algn="just">
              <a:lnSpc>
                <a:spcPct val="150000"/>
              </a:lnSpc>
              <a:buFont typeface="+mj-lt"/>
              <a:buAutoNum type="arabicPeriod"/>
            </a:pPr>
            <a:r>
              <a:rPr lang="en-US" sz="2000" b="1" i="0" dirty="0">
                <a:solidFill>
                  <a:srgbClr val="0D0D0D"/>
                </a:solidFill>
                <a:effectLst/>
                <a:latin typeface="Times New Roman" panose="02020603050405020304" pitchFamily="18" charset="0"/>
                <a:cs typeface="Times New Roman" panose="02020603050405020304" pitchFamily="18" charset="0"/>
              </a:rPr>
              <a:t>Reduced Manual Effort and Time</a:t>
            </a:r>
            <a:r>
              <a:rPr lang="en-US" sz="2000" b="0" i="0" dirty="0">
                <a:solidFill>
                  <a:srgbClr val="0D0D0D"/>
                </a:solidFill>
                <a:effectLst/>
                <a:latin typeface="Times New Roman" panose="02020603050405020304" pitchFamily="18" charset="0"/>
                <a:cs typeface="Times New Roman" panose="02020603050405020304" pitchFamily="18" charset="0"/>
              </a:rPr>
              <a:t> – Automated image processing significantly decreased human intervention.</a:t>
            </a:r>
          </a:p>
          <a:p>
            <a:pPr algn="just">
              <a:lnSpc>
                <a:spcPct val="150000"/>
              </a:lnSpc>
              <a:buFont typeface="+mj-lt"/>
              <a:buAutoNum type="arabicPeriod"/>
            </a:pPr>
            <a:r>
              <a:rPr lang="en-US" sz="2000" b="1" i="0" dirty="0">
                <a:solidFill>
                  <a:srgbClr val="0D0D0D"/>
                </a:solidFill>
                <a:effectLst/>
                <a:latin typeface="Times New Roman" panose="02020603050405020304" pitchFamily="18" charset="0"/>
                <a:cs typeface="Times New Roman" panose="02020603050405020304" pitchFamily="18" charset="0"/>
              </a:rPr>
              <a:t>Robust Performance Under Different Conditions</a:t>
            </a:r>
            <a:r>
              <a:rPr lang="en-US" sz="2000" b="0" i="0" dirty="0">
                <a:solidFill>
                  <a:srgbClr val="0D0D0D"/>
                </a:solidFill>
                <a:effectLst/>
                <a:latin typeface="Times New Roman" panose="02020603050405020304" pitchFamily="18" charset="0"/>
                <a:cs typeface="Times New Roman" panose="02020603050405020304" pitchFamily="18" charset="0"/>
              </a:rPr>
              <a:t> – The model maintained stable performance under varying lighting and background conditions, making it suitable for real-time industrial applications.</a:t>
            </a:r>
          </a:p>
        </p:txBody>
      </p:sp>
    </p:spTree>
    <p:extLst>
      <p:ext uri="{BB962C8B-B14F-4D97-AF65-F5344CB8AC3E}">
        <p14:creationId xmlns:p14="http://schemas.microsoft.com/office/powerpoint/2010/main" val="29424162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CB8E6-7966-4A25-44E7-1EC8C73F3A28}"/>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48DE4046-CD50-47A6-9B1A-CD723D9B2155}"/>
              </a:ext>
            </a:extLst>
          </p:cNvPr>
          <p:cNvSpPr>
            <a:spLocks noGrp="1"/>
          </p:cNvSpPr>
          <p:nvPr>
            <p:ph idx="1"/>
          </p:nvPr>
        </p:nvSpPr>
        <p:spPr>
          <a:xfrm>
            <a:off x="960698" y="1825625"/>
            <a:ext cx="9919505" cy="4351338"/>
          </a:xfrm>
        </p:spPr>
        <p:txBody>
          <a:bodyPr>
            <a:normAutofit lnSpcReduction="10000"/>
          </a:bodyPr>
          <a:lstStyle/>
          <a:p>
            <a:pPr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system accurately detects fruit ripeness and quality using image processing.</a:t>
            </a:r>
          </a:p>
          <a:p>
            <a:pPr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Color and texture features help classify fruits more reliably than manual inspection.</a:t>
            </a:r>
          </a:p>
          <a:p>
            <a:pPr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Automation improves speed, consistency, and reduces human error.</a:t>
            </a:r>
          </a:p>
          <a:p>
            <a:pPr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model is flexible and can work with different fruit types.</a:t>
            </a:r>
          </a:p>
          <a:p>
            <a:pPr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project supports smarter, technology-driven agricultural practices.</a:t>
            </a:r>
          </a:p>
          <a:p>
            <a:pPr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system helps reduce post-harvest losses by identifying overripe or defective fruits early.</a:t>
            </a:r>
          </a:p>
          <a:p>
            <a:pPr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It provides a strong foundation for developing advanced smart-farming and automated grading systems.</a:t>
            </a:r>
          </a:p>
          <a:p>
            <a:pPr algn="just">
              <a:lnSpc>
                <a:spcPct val="150000"/>
              </a:lnSpc>
            </a:pPr>
            <a:endParaRPr lang="en-IN" sz="2000" dirty="0">
              <a:latin typeface="Times New Roman" panose="02020603050405020304" pitchFamily="18" charset="0"/>
              <a:cs typeface="Times New Roman" panose="02020603050405020304" pitchFamily="18" charset="0"/>
            </a:endParaRPr>
          </a:p>
        </p:txBody>
      </p:sp>
      <p:pic>
        <p:nvPicPr>
          <p:cNvPr id="4" name="Google Shape;2123878948;p1">
            <a:extLst>
              <a:ext uri="{FF2B5EF4-FFF2-40B4-BE49-F238E27FC236}">
                <a16:creationId xmlns:a16="http://schemas.microsoft.com/office/drawing/2014/main" id="{FBB47847-D6B1-09B6-6219-503BB116399C}"/>
              </a:ext>
            </a:extLst>
          </p:cNvPr>
          <p:cNvPicPr preferRelativeResize="0"/>
          <p:nvPr/>
        </p:nvPicPr>
        <p:blipFill rotWithShape="1">
          <a:blip r:embed="rId2">
            <a:alphaModFix/>
          </a:blip>
          <a:srcRect/>
          <a:stretch/>
        </p:blipFill>
        <p:spPr>
          <a:xfrm>
            <a:off x="357352" y="191626"/>
            <a:ext cx="1135117" cy="1342883"/>
          </a:xfrm>
          <a:prstGeom prst="rect">
            <a:avLst/>
          </a:prstGeom>
          <a:noFill/>
          <a:ln>
            <a:noFill/>
          </a:ln>
        </p:spPr>
      </p:pic>
      <p:pic>
        <p:nvPicPr>
          <p:cNvPr id="5" name="Google Shape;2123878949;p1">
            <a:extLst>
              <a:ext uri="{FF2B5EF4-FFF2-40B4-BE49-F238E27FC236}">
                <a16:creationId xmlns:a16="http://schemas.microsoft.com/office/drawing/2014/main" id="{9A6C36DB-F07C-F77E-568B-22530669E979}"/>
              </a:ext>
            </a:extLst>
          </p:cNvPr>
          <p:cNvPicPr preferRelativeResize="0"/>
          <p:nvPr/>
        </p:nvPicPr>
        <p:blipFill rotWithShape="1">
          <a:blip r:embed="rId3">
            <a:alphaModFix/>
          </a:blip>
          <a:srcRect/>
          <a:stretch/>
        </p:blipFill>
        <p:spPr>
          <a:xfrm>
            <a:off x="10514231" y="191626"/>
            <a:ext cx="1520114" cy="1342883"/>
          </a:xfrm>
          <a:prstGeom prst="rect">
            <a:avLst/>
          </a:prstGeom>
          <a:noFill/>
          <a:ln>
            <a:noFill/>
          </a:ln>
        </p:spPr>
      </p:pic>
    </p:spTree>
    <p:extLst>
      <p:ext uri="{BB962C8B-B14F-4D97-AF65-F5344CB8AC3E}">
        <p14:creationId xmlns:p14="http://schemas.microsoft.com/office/powerpoint/2010/main" val="40597957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1BBD9-1B63-0F11-02EA-F1EB2858FB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2FBD02-0E3C-0EDC-7F22-E8C8DCAD2227}"/>
              </a:ext>
            </a:extLst>
          </p:cNvPr>
          <p:cNvSpPr>
            <a:spLocks noGrp="1"/>
          </p:cNvSpPr>
          <p:nvPr>
            <p:ph type="title"/>
          </p:nvPr>
        </p:nvSpPr>
        <p:spPr>
          <a:xfrm>
            <a:off x="838200" y="129611"/>
            <a:ext cx="10515600" cy="1325563"/>
          </a:xfrm>
        </p:spPr>
        <p:txBody>
          <a:bodyPr/>
          <a:lstStyle/>
          <a:p>
            <a:pPr algn="ctr"/>
            <a:r>
              <a:rPr lang="en-IN" b="1" dirty="0">
                <a:latin typeface="Times New Roman" panose="02020603050405020304" pitchFamily="18" charset="0"/>
                <a:cs typeface="Times New Roman" panose="02020603050405020304" pitchFamily="18" charset="0"/>
              </a:rPr>
              <a:t>FUTURE ENHANCEMENT</a:t>
            </a:r>
          </a:p>
        </p:txBody>
      </p:sp>
      <p:pic>
        <p:nvPicPr>
          <p:cNvPr id="4" name="Google Shape;2123878948;p1">
            <a:extLst>
              <a:ext uri="{FF2B5EF4-FFF2-40B4-BE49-F238E27FC236}">
                <a16:creationId xmlns:a16="http://schemas.microsoft.com/office/drawing/2014/main" id="{2C7D6D3B-C488-6A79-FC6A-97ACA15B9C6B}"/>
              </a:ext>
            </a:extLst>
          </p:cNvPr>
          <p:cNvPicPr preferRelativeResize="0"/>
          <p:nvPr/>
        </p:nvPicPr>
        <p:blipFill rotWithShape="1">
          <a:blip r:embed="rId2">
            <a:alphaModFix/>
          </a:blip>
          <a:srcRect/>
          <a:stretch/>
        </p:blipFill>
        <p:spPr>
          <a:xfrm>
            <a:off x="357352" y="191626"/>
            <a:ext cx="1135117" cy="1342883"/>
          </a:xfrm>
          <a:prstGeom prst="rect">
            <a:avLst/>
          </a:prstGeom>
          <a:noFill/>
          <a:ln>
            <a:noFill/>
          </a:ln>
        </p:spPr>
      </p:pic>
      <p:pic>
        <p:nvPicPr>
          <p:cNvPr id="5" name="Google Shape;2123878949;p1">
            <a:extLst>
              <a:ext uri="{FF2B5EF4-FFF2-40B4-BE49-F238E27FC236}">
                <a16:creationId xmlns:a16="http://schemas.microsoft.com/office/drawing/2014/main" id="{13846078-CE48-1487-4D55-72041092CFC4}"/>
              </a:ext>
            </a:extLst>
          </p:cNvPr>
          <p:cNvPicPr preferRelativeResize="0"/>
          <p:nvPr/>
        </p:nvPicPr>
        <p:blipFill rotWithShape="1">
          <a:blip r:embed="rId3">
            <a:alphaModFix/>
          </a:blip>
          <a:srcRect/>
          <a:stretch/>
        </p:blipFill>
        <p:spPr>
          <a:xfrm>
            <a:off x="10514231" y="191626"/>
            <a:ext cx="1520114" cy="1342883"/>
          </a:xfrm>
          <a:prstGeom prst="rect">
            <a:avLst/>
          </a:prstGeom>
          <a:noFill/>
          <a:ln>
            <a:noFill/>
          </a:ln>
        </p:spPr>
      </p:pic>
      <p:sp>
        <p:nvSpPr>
          <p:cNvPr id="6" name="Content Placeholder 5">
            <a:extLst>
              <a:ext uri="{FF2B5EF4-FFF2-40B4-BE49-F238E27FC236}">
                <a16:creationId xmlns:a16="http://schemas.microsoft.com/office/drawing/2014/main" id="{8C39DC59-613A-7C2A-9ABC-14F6C9D7F07C}"/>
              </a:ext>
            </a:extLst>
          </p:cNvPr>
          <p:cNvSpPr>
            <a:spLocks noGrp="1"/>
          </p:cNvSpPr>
          <p:nvPr>
            <p:ph idx="1"/>
          </p:nvPr>
        </p:nvSpPr>
        <p:spPr>
          <a:xfrm>
            <a:off x="1271016" y="1828800"/>
            <a:ext cx="9501760" cy="4314825"/>
          </a:xfrm>
        </p:spPr>
        <p:txBody>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Implement advanced deep learning models (CNN) for better accuracy.</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Develop a mobile app for on-field fruit analysis.</a:t>
            </a:r>
          </a:p>
          <a:p>
            <a:pPr>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Extend the system to support multiple fruit types.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Use cloud-based data storage and monitoring systems.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Add internal defect detection using hyperspectral imaging.</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Improve performance under different lighting conditions.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Deploy the system on a large industrial scale.</a:t>
            </a:r>
            <a:endParaRPr lang="en-US" altLang="en-US" dirty="0">
              <a:latin typeface="Times New Roman" panose="02020603050405020304" pitchFamily="18" charset="0"/>
              <a:cs typeface="Times New Roman" panose="02020603050405020304" pitchFamily="18" charset="0"/>
            </a:endParaRPr>
          </a:p>
          <a:p>
            <a:endParaRPr lang="en-US" dirty="0"/>
          </a:p>
          <a:p>
            <a:endParaRPr lang="en-IN" dirty="0"/>
          </a:p>
        </p:txBody>
      </p:sp>
      <p:sp>
        <p:nvSpPr>
          <p:cNvPr id="8" name="Rectangle 1">
            <a:extLst>
              <a:ext uri="{FF2B5EF4-FFF2-40B4-BE49-F238E27FC236}">
                <a16:creationId xmlns:a16="http://schemas.microsoft.com/office/drawing/2014/main" id="{0CA70293-3D41-373E-5637-0AFF0A82B263}"/>
              </a:ext>
            </a:extLst>
          </p:cNvPr>
          <p:cNvSpPr>
            <a:spLocks noChangeArrowheads="1"/>
          </p:cNvSpPr>
          <p:nvPr/>
        </p:nvSpPr>
        <p:spPr bwMode="auto">
          <a:xfrm>
            <a:off x="0" y="-323165"/>
            <a:ext cx="3289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2">
            <a:extLst>
              <a:ext uri="{FF2B5EF4-FFF2-40B4-BE49-F238E27FC236}">
                <a16:creationId xmlns:a16="http://schemas.microsoft.com/office/drawing/2014/main" id="{B519919D-C809-CE4A-995E-EB5153E076E4}"/>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259595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D354D-1676-7BB3-A3D8-6361786247AA}"/>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REFERENCES</a:t>
            </a:r>
          </a:p>
        </p:txBody>
      </p:sp>
      <p:pic>
        <p:nvPicPr>
          <p:cNvPr id="4" name="Google Shape;2123878948;p1">
            <a:extLst>
              <a:ext uri="{FF2B5EF4-FFF2-40B4-BE49-F238E27FC236}">
                <a16:creationId xmlns:a16="http://schemas.microsoft.com/office/drawing/2014/main" id="{C2979904-69CC-C6A5-A933-5686B3BFF089}"/>
              </a:ext>
            </a:extLst>
          </p:cNvPr>
          <p:cNvPicPr preferRelativeResize="0"/>
          <p:nvPr/>
        </p:nvPicPr>
        <p:blipFill rotWithShape="1">
          <a:blip r:embed="rId2">
            <a:alphaModFix/>
          </a:blip>
          <a:srcRect/>
          <a:stretch/>
        </p:blipFill>
        <p:spPr>
          <a:xfrm>
            <a:off x="357352" y="191626"/>
            <a:ext cx="1135117" cy="1342883"/>
          </a:xfrm>
          <a:prstGeom prst="rect">
            <a:avLst/>
          </a:prstGeom>
          <a:noFill/>
          <a:ln>
            <a:noFill/>
          </a:ln>
        </p:spPr>
      </p:pic>
      <p:pic>
        <p:nvPicPr>
          <p:cNvPr id="5" name="Google Shape;2123878949;p1">
            <a:extLst>
              <a:ext uri="{FF2B5EF4-FFF2-40B4-BE49-F238E27FC236}">
                <a16:creationId xmlns:a16="http://schemas.microsoft.com/office/drawing/2014/main" id="{180186EA-27D4-CDAC-F8E2-1CAC2B6956E5}"/>
              </a:ext>
            </a:extLst>
          </p:cNvPr>
          <p:cNvPicPr preferRelativeResize="0"/>
          <p:nvPr/>
        </p:nvPicPr>
        <p:blipFill rotWithShape="1">
          <a:blip r:embed="rId3">
            <a:alphaModFix/>
          </a:blip>
          <a:srcRect/>
          <a:stretch/>
        </p:blipFill>
        <p:spPr>
          <a:xfrm>
            <a:off x="10514231" y="191626"/>
            <a:ext cx="1520114" cy="1342883"/>
          </a:xfrm>
          <a:prstGeom prst="rect">
            <a:avLst/>
          </a:prstGeom>
          <a:noFill/>
          <a:ln>
            <a:noFill/>
          </a:ln>
        </p:spPr>
      </p:pic>
      <p:sp>
        <p:nvSpPr>
          <p:cNvPr id="6" name="Rectangle 1">
            <a:extLst>
              <a:ext uri="{FF2B5EF4-FFF2-40B4-BE49-F238E27FC236}">
                <a16:creationId xmlns:a16="http://schemas.microsoft.com/office/drawing/2014/main" id="{CBF04E35-5D8A-9D5E-0298-22783480A903}"/>
              </a:ext>
            </a:extLst>
          </p:cNvPr>
          <p:cNvSpPr>
            <a:spLocks noGrp="1" noChangeArrowheads="1"/>
          </p:cNvSpPr>
          <p:nvPr>
            <p:ph idx="1"/>
          </p:nvPr>
        </p:nvSpPr>
        <p:spPr bwMode="auto">
          <a:xfrm>
            <a:off x="838199" y="1674472"/>
            <a:ext cx="10996449" cy="4653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Morshed, M. S., Ahmed, S., Ahmed, T., Islam, M. U., &amp; Rahman, A. B. M. A. </a:t>
            </a:r>
            <a:r>
              <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Fruit Quality Assessment with Densely Connected Convolutional Neural Network (Dense Net)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Xiv</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preprint, 2022. </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Liu, Y., Li, M., &amp; Ma, Q. </a:t>
            </a:r>
            <a:r>
              <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Efficient Apple Maturity and Damage Assessment: A Lightweight Detection Model with GAN and Attention Mechanism.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Xiv</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preprint, 2023</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Oli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sah</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 C., Trewhella, B., Li, B., Smith, M. L., Winstone, B., Whitfield, E. C., … Fernández, F. — </a:t>
            </a: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CNN </a:t>
            </a:r>
            <a:r>
              <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Ensemble Learning for Hyperspectral Imaging-based Blackberry Fruit Ripeness Detection in Uncontrolled Farm Environment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Xiv</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preprint, 2024. </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Luo, D., Luo, R., Cheng, J., &amp; Liu, X. </a:t>
            </a:r>
            <a:r>
              <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Quality detection and grading of peach fruit based on image processing method and neural networks in agricultural industry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Frontiers in Plant Science, 2024. </a:t>
            </a:r>
          </a:p>
        </p:txBody>
      </p:sp>
    </p:spTree>
    <p:extLst>
      <p:ext uri="{BB962C8B-B14F-4D97-AF65-F5344CB8AC3E}">
        <p14:creationId xmlns:p14="http://schemas.microsoft.com/office/powerpoint/2010/main" val="2280627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8208" y="2766218"/>
            <a:ext cx="10266080" cy="1325563"/>
          </a:xfrm>
        </p:spPr>
        <p:txBody>
          <a:bodyPr>
            <a:normAutofit/>
          </a:bodyPr>
          <a:lstStyle/>
          <a:p>
            <a:r>
              <a:rPr lang="en-US" sz="5400" b="1" dirty="0">
                <a:latin typeface="Times New Roman" pitchFamily="18" charset="0"/>
                <a:cs typeface="Times New Roman" pitchFamily="18" charset="0"/>
              </a:rPr>
              <a:t>                </a:t>
            </a:r>
          </a:p>
        </p:txBody>
      </p:sp>
      <p:pic>
        <p:nvPicPr>
          <p:cNvPr id="6" name="Picture 5">
            <a:extLst>
              <a:ext uri="{FF2B5EF4-FFF2-40B4-BE49-F238E27FC236}">
                <a16:creationId xmlns:a16="http://schemas.microsoft.com/office/drawing/2014/main" id="{222E6F09-316D-5552-CE5F-6B2B2C1035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599</TotalTime>
  <Words>1124</Words>
  <Application>Microsoft Office PowerPoint</Application>
  <PresentationFormat>Widescreen</PresentationFormat>
  <Paragraphs>105</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Aptos</vt:lpstr>
      <vt:lpstr>Arial</vt:lpstr>
      <vt:lpstr>Calibri</vt:lpstr>
      <vt:lpstr>Calibri Light</vt:lpstr>
      <vt:lpstr>Times New Roman</vt:lpstr>
      <vt:lpstr>Wingdings</vt:lpstr>
      <vt:lpstr>Office Theme</vt:lpstr>
      <vt:lpstr>PowerPoint Presentation</vt:lpstr>
      <vt:lpstr>PowerPoint Presentation</vt:lpstr>
      <vt:lpstr>INTRODUCTION </vt:lpstr>
      <vt:lpstr>OBJECTIVES</vt:lpstr>
      <vt:lpstr>                    METHODOLOGY</vt:lpstr>
      <vt:lpstr>SYSTEM ARCHITECTURE</vt:lpstr>
      <vt:lpstr>LITERATURE REVIEW</vt:lpstr>
      <vt:lpstr>MODULE 1-Fruit Image Preprocessing and Region Segmentation </vt:lpstr>
      <vt:lpstr>   MODULE 2 -  Ripeness Detection and Quality Classification </vt:lpstr>
      <vt:lpstr>RESULTS AND DISCUSSION</vt:lpstr>
      <vt:lpstr>CONCLUSION</vt:lpstr>
      <vt:lpstr>FUTURE ENHANCEMENT</vt:lpstr>
      <vt:lpstr>REFERENCES</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Information System for Small-Scale Farmers</dc:title>
  <dc:creator>admin</dc:creator>
  <cp:lastModifiedBy>mani gandan</cp:lastModifiedBy>
  <cp:revision>13</cp:revision>
  <dcterms:created xsi:type="dcterms:W3CDTF">2018-12-29T07:03:00Z</dcterms:created>
  <dcterms:modified xsi:type="dcterms:W3CDTF">2026-02-18T03:48:14Z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1033-11.2.0.9150</vt:lpwstr>
  </property>
</Properties>
</file>